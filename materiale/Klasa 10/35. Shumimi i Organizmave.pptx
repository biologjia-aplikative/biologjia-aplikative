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embeddedFontLst>
    <p:embeddedFont>
      <p:font typeface="Instrument Sans SemiBold" panose="020B0604020202020204" charset="0"/>
      <p:regular r:id="rId11"/>
    </p:embeddedFont>
    <p:embeddedFont>
      <p:font typeface="Calibri" panose="020F0502020204030204" pitchFamily="34" charset="0"/>
      <p:regular r:id="rId12"/>
      <p:bold r:id="rId13"/>
      <p:italic r:id="rId14"/>
      <p:boldItalic r:id="rId15"/>
    </p:embeddedFont>
    <p:embeddedFont>
      <p:font typeface="Instrument Sans"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56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3206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9F5"/>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9F5"/>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9F5"/>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9F5"/>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9F5"/>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9F5"/>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9F5"/>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9F5"/>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3" Type="http://schemas.openxmlformats.org/officeDocument/2006/relationships/image" Target="../media/image-2-13.svg"/><Relationship Id="rId3" Type="http://schemas.openxmlformats.org/officeDocument/2006/relationships/image" Target="../media/image4.png"/><Relationship Id="rId7" Type="http://schemas.openxmlformats.org/officeDocument/2006/relationships/image" Target="../media/image-2-7.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2-5.svg"/><Relationship Id="rId11" Type="http://schemas.openxmlformats.org/officeDocument/2006/relationships/image" Target="../media/image-2-11.svg"/><Relationship Id="rId5" Type="http://schemas.openxmlformats.org/officeDocument/2006/relationships/image" Target="../media/image-2-3.svg"/><Relationship Id="rId4" Type="http://schemas.openxmlformats.org/officeDocument/2006/relationships/image" Target="../media/image5.png"/><Relationship Id="rId9" Type="http://schemas.openxmlformats.org/officeDocument/2006/relationships/image" Target="../media/image-2-9.sv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7.sv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4-5.svg"/><Relationship Id="rId5" Type="http://schemas.openxmlformats.org/officeDocument/2006/relationships/image" Target="../media/image11.png"/><Relationship Id="rId4" Type="http://schemas.openxmlformats.org/officeDocument/2006/relationships/image" Target="../media/image-4-2.svg"/><Relationship Id="rId9" Type="http://schemas.openxmlformats.org/officeDocument/2006/relationships/image" Target="../media/image-4-9.sv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5.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5-6.svg"/><Relationship Id="rId5" Type="http://schemas.openxmlformats.org/officeDocument/2006/relationships/image" Target="../media/image-5-4.svg"/><Relationship Id="rId4" Type="http://schemas.openxmlformats.org/officeDocument/2006/relationships/image" Target="../media/image-5-2.sv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8-7.sv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8-5.svg"/><Relationship Id="rId5" Type="http://schemas.openxmlformats.org/officeDocument/2006/relationships/image" Target="../media/image-8-3.svg"/><Relationship Id="rId10" Type="http://schemas.openxmlformats.org/officeDocument/2006/relationships/image" Target="../media/image17.png"/><Relationship Id="rId4" Type="http://schemas.openxmlformats.org/officeDocument/2006/relationships/image" Target="../media/image5.png"/><Relationship Id="rId9" Type="http://schemas.openxmlformats.org/officeDocument/2006/relationships/image" Target="../media/image-8-9.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771900" cy="5143500"/>
          </a:xfrm>
          <a:prstGeom prst="rect">
            <a:avLst/>
          </a:prstGeom>
        </p:spPr>
      </p:pic>
      <p:sp>
        <p:nvSpPr>
          <p:cNvPr id="3" name="Text 0"/>
          <p:cNvSpPr/>
          <p:nvPr/>
        </p:nvSpPr>
        <p:spPr>
          <a:xfrm>
            <a:off x="3925119" y="1606525"/>
            <a:ext cx="2706365" cy="193849"/>
          </a:xfrm>
          <a:prstGeom prst="rect">
            <a:avLst/>
          </a:prstGeom>
          <a:noFill/>
          <a:ln/>
        </p:spPr>
        <p:txBody>
          <a:bodyPr wrap="none" lIns="0" tIns="0" rIns="0" bIns="0" rtlCol="0" anchor="t"/>
          <a:lstStyle/>
          <a:p>
            <a:pPr marL="0" indent="0" algn="l">
              <a:lnSpc>
                <a:spcPct val="104000"/>
              </a:lnSpc>
              <a:buNone/>
            </a:pPr>
            <a:r>
              <a:rPr lang="en-US" sz="1200" dirty="0">
                <a:solidFill>
                  <a:srgbClr val="E3BC9A"/>
                </a:solidFill>
                <a:latin typeface="Instrument Sans SemiBold" pitchFamily="34" charset="0"/>
                <a:ea typeface="Instrument Sans SemiBold" pitchFamily="34" charset="-122"/>
                <a:cs typeface="Instrument Sans SemiBold" pitchFamily="34" charset="-120"/>
              </a:rPr>
              <a:t>BIOLOGJIA E REPRODUKTIMIT</a:t>
            </a:r>
            <a:endParaRPr lang="en-US" sz="1200" dirty="0"/>
          </a:p>
        </p:txBody>
      </p:sp>
      <p:sp>
        <p:nvSpPr>
          <p:cNvPr id="4" name="Text 1"/>
          <p:cNvSpPr/>
          <p:nvPr/>
        </p:nvSpPr>
        <p:spPr>
          <a:xfrm>
            <a:off x="3925119" y="1986409"/>
            <a:ext cx="4722763" cy="1550491"/>
          </a:xfrm>
          <a:prstGeom prst="rect">
            <a:avLst/>
          </a:prstGeom>
          <a:noFill/>
          <a:ln/>
        </p:spPr>
        <p:txBody>
          <a:bodyPr wrap="square" lIns="0" tIns="0" rIns="0" bIns="0" rtlCol="0" anchor="t">
            <a:normAutofit/>
          </a:bodyPr>
          <a:lstStyle/>
          <a:p>
            <a:pPr marL="0" indent="0" algn="l">
              <a:lnSpc>
                <a:spcPct val="104000"/>
              </a:lnSpc>
              <a:buNone/>
            </a:pPr>
            <a:r>
              <a:rPr lang="en-US" sz="4850" dirty="0">
                <a:solidFill>
                  <a:srgbClr val="A0622C"/>
                </a:solidFill>
                <a:latin typeface="Instrument Sans SemiBold" pitchFamily="34" charset="0"/>
                <a:ea typeface="Instrument Sans SemiBold" pitchFamily="34" charset="-122"/>
                <a:cs typeface="Instrument Sans SemiBold" pitchFamily="34" charset="-120"/>
              </a:rPr>
              <a:t>SHUMIMI I ORGANIZMAVE</a:t>
            </a:r>
            <a:endParaRPr lang="en-US" sz="4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12357" y="713683"/>
            <a:ext cx="3150245" cy="297652"/>
          </a:xfrm>
          <a:prstGeom prst="rect">
            <a:avLst/>
          </a:prstGeom>
          <a:noFill/>
          <a:ln/>
        </p:spPr>
        <p:txBody>
          <a:bodyPr wrap="none" lIns="0" tIns="0" rIns="0" bIns="0" rtlCol="0" anchor="t"/>
          <a:lstStyle/>
          <a:p>
            <a:pPr marL="0" indent="0" algn="l">
              <a:lnSpc>
                <a:spcPct val="104000"/>
              </a:lnSpc>
              <a:buNone/>
            </a:pPr>
            <a:r>
              <a:rPr lang="en-US" sz="1200" dirty="0">
                <a:solidFill>
                  <a:srgbClr val="A0622C"/>
                </a:solidFill>
                <a:latin typeface="Instrument Sans SemiBold" pitchFamily="34" charset="0"/>
                <a:ea typeface="Instrument Sans SemiBold" pitchFamily="34" charset="-122"/>
                <a:cs typeface="Instrument Sans SemiBold" pitchFamily="34" charset="-120"/>
              </a:rPr>
              <a:t>DY MËNYRAT THEMELORE TË SHUMIMIT</a:t>
            </a:r>
            <a:endParaRPr lang="en-US" sz="1200" dirty="0"/>
          </a:p>
        </p:txBody>
      </p:sp>
      <p:sp>
        <p:nvSpPr>
          <p:cNvPr id="3" name="Text 1"/>
          <p:cNvSpPr/>
          <p:nvPr/>
        </p:nvSpPr>
        <p:spPr>
          <a:xfrm>
            <a:off x="496119" y="1049015"/>
            <a:ext cx="3150245" cy="193849"/>
          </a:xfrm>
          <a:prstGeom prst="rect">
            <a:avLst/>
          </a:prstGeom>
          <a:noFill/>
          <a:ln/>
        </p:spPr>
        <p:txBody>
          <a:bodyPr wrap="none" lIns="0" tIns="0" rIns="0" bIns="0" rtlCol="0" anchor="t"/>
          <a:lstStyle/>
          <a:p>
            <a:pPr marL="0" indent="0" algn="l">
              <a:lnSpc>
                <a:spcPct val="104000"/>
              </a:lnSpc>
              <a:buNone/>
            </a:pPr>
            <a:r>
              <a:rPr lang="en-US" sz="1200" dirty="0">
                <a:solidFill>
                  <a:srgbClr val="A0622C"/>
                </a:solidFill>
                <a:latin typeface="Instrument Sans SemiBold" pitchFamily="34" charset="0"/>
                <a:ea typeface="Instrument Sans SemiBold" pitchFamily="34" charset="-122"/>
                <a:cs typeface="Instrument Sans SemiBold" pitchFamily="34" charset="-120"/>
              </a:rPr>
              <a:t>SHUMIMI JOSEKSUAL DHE SEKSUAL</a:t>
            </a:r>
            <a:endParaRPr lang="en-US" sz="1200" dirty="0"/>
          </a:p>
        </p:txBody>
      </p:sp>
      <p:sp>
        <p:nvSpPr>
          <p:cNvPr id="4" name="Text 2"/>
          <p:cNvSpPr/>
          <p:nvPr/>
        </p:nvSpPr>
        <p:spPr>
          <a:xfrm>
            <a:off x="496119" y="1366838"/>
            <a:ext cx="3501851"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F3D3B"/>
                </a:solidFill>
                <a:latin typeface="Instrument Sans" pitchFamily="34" charset="0"/>
                <a:ea typeface="Instrument Sans" pitchFamily="34" charset="-122"/>
                <a:cs typeface="Instrument Sans" pitchFamily="34" charset="-120"/>
              </a:rPr>
              <a:t>Tek organizmat ekzistojnë dy mënyra themelore të shumimit: joseksual dhe seksual. Shumimi joseksual kryhet pa bashkim të qelizave seksuale, ndërsa shumimi seksual përfshin gametogjenezën dhe fekondimin.</a:t>
            </a:r>
            <a:endParaRPr lang="en-US" sz="950" dirty="0"/>
          </a:p>
        </p:txBody>
      </p:sp>
      <p:pic>
        <p:nvPicPr>
          <p:cNvPr id="5" name="Image 0" descr="preencoded.png"/>
          <p:cNvPicPr>
            <a:picLocks noChangeAspect="1"/>
          </p:cNvPicPr>
          <p:nvPr/>
        </p:nvPicPr>
        <p:blipFill>
          <a:blip r:embed="rId3"/>
          <a:stretch>
            <a:fillRect/>
          </a:stretch>
        </p:blipFill>
        <p:spPr>
          <a:xfrm>
            <a:off x="496119" y="2300213"/>
            <a:ext cx="3501851" cy="1752674"/>
          </a:xfrm>
          <a:prstGeom prst="rect">
            <a:avLst/>
          </a:prstGeom>
        </p:spPr>
      </p:pic>
      <p:sp>
        <p:nvSpPr>
          <p:cNvPr id="6" name="Text 3"/>
          <p:cNvSpPr/>
          <p:nvPr/>
        </p:nvSpPr>
        <p:spPr>
          <a:xfrm>
            <a:off x="511862" y="3053671"/>
            <a:ext cx="657690" cy="196782"/>
          </a:xfrm>
          <a:prstGeom prst="rect">
            <a:avLst/>
          </a:prstGeom>
          <a:noFill/>
          <a:ln/>
        </p:spPr>
        <p:txBody>
          <a:bodyPr wrap="square" lIns="0" tIns="0" rIns="0" bIns="0" rtlCol="0" anchor="t">
            <a:normAutofit/>
          </a:bodyPr>
          <a:lstStyle/>
          <a:p>
            <a:pPr marL="0" indent="0" algn="ctr">
              <a:lnSpc>
                <a:spcPct val="104000"/>
              </a:lnSpc>
              <a:buNone/>
            </a:pPr>
            <a:r>
              <a:rPr lang="en-US" sz="600" dirty="0">
                <a:solidFill>
                  <a:srgbClr val="3F3D3B"/>
                </a:solidFill>
                <a:latin typeface="Instrument Sans SemiBold" pitchFamily="34" charset="0"/>
                <a:ea typeface="Instrument Sans SemiBold" pitchFamily="34" charset="-122"/>
                <a:cs typeface="Instrument Sans SemiBold" pitchFamily="34" charset="-120"/>
              </a:rPr>
              <a:t>PROCESI JOSEKSUAL</a:t>
            </a:r>
            <a:endParaRPr lang="en-US" sz="600" dirty="0"/>
          </a:p>
        </p:txBody>
      </p:sp>
      <p:sp>
        <p:nvSpPr>
          <p:cNvPr id="7" name="Text 4"/>
          <p:cNvSpPr/>
          <p:nvPr/>
        </p:nvSpPr>
        <p:spPr>
          <a:xfrm>
            <a:off x="1625645" y="3903661"/>
            <a:ext cx="1015729" cy="98391"/>
          </a:xfrm>
          <a:prstGeom prst="rect">
            <a:avLst/>
          </a:prstGeom>
          <a:noFill/>
          <a:ln/>
        </p:spPr>
        <p:txBody>
          <a:bodyPr wrap="none" lIns="0" tIns="0" rIns="0" bIns="0" rtlCol="0" anchor="t"/>
          <a:lstStyle/>
          <a:p>
            <a:pPr marL="0" indent="0" algn="ctr">
              <a:lnSpc>
                <a:spcPct val="104000"/>
              </a:lnSpc>
              <a:buNone/>
            </a:pPr>
            <a:r>
              <a:rPr lang="en-US" sz="600" dirty="0">
                <a:solidFill>
                  <a:srgbClr val="3F3D3B"/>
                </a:solidFill>
                <a:latin typeface="Instrument Sans SemiBold" pitchFamily="34" charset="0"/>
                <a:ea typeface="Instrument Sans SemiBold" pitchFamily="34" charset="-122"/>
                <a:cs typeface="Instrument Sans SemiBold" pitchFamily="34" charset="-120"/>
              </a:rPr>
              <a:t>SHUMIM SEKSUAL</a:t>
            </a:r>
            <a:endParaRPr lang="en-US" sz="600" dirty="0"/>
          </a:p>
        </p:txBody>
      </p:sp>
      <p:sp>
        <p:nvSpPr>
          <p:cNvPr id="8" name="Text 5"/>
          <p:cNvSpPr/>
          <p:nvPr/>
        </p:nvSpPr>
        <p:spPr>
          <a:xfrm>
            <a:off x="3321038" y="3053671"/>
            <a:ext cx="657690" cy="196782"/>
          </a:xfrm>
          <a:prstGeom prst="rect">
            <a:avLst/>
          </a:prstGeom>
          <a:noFill/>
          <a:ln/>
        </p:spPr>
        <p:txBody>
          <a:bodyPr wrap="square" lIns="0" tIns="0" rIns="0" bIns="0" rtlCol="0" anchor="t">
            <a:normAutofit/>
          </a:bodyPr>
          <a:lstStyle/>
          <a:p>
            <a:pPr marL="0" indent="0" algn="ctr">
              <a:lnSpc>
                <a:spcPct val="104000"/>
              </a:lnSpc>
              <a:buNone/>
            </a:pPr>
            <a:r>
              <a:rPr lang="en-US" sz="600" dirty="0">
                <a:solidFill>
                  <a:srgbClr val="3F3D3B"/>
                </a:solidFill>
                <a:latin typeface="Instrument Sans SemiBold" pitchFamily="34" charset="0"/>
                <a:ea typeface="Instrument Sans SemiBold" pitchFamily="34" charset="-122"/>
                <a:cs typeface="Instrument Sans SemiBold" pitchFamily="34" charset="-120"/>
              </a:rPr>
              <a:t>PROCESI SEKSUAL</a:t>
            </a:r>
            <a:endParaRPr lang="en-US" sz="600" dirty="0"/>
          </a:p>
        </p:txBody>
      </p:sp>
      <p:sp>
        <p:nvSpPr>
          <p:cNvPr id="9" name="Text 6"/>
          <p:cNvSpPr/>
          <p:nvPr/>
        </p:nvSpPr>
        <p:spPr>
          <a:xfrm>
            <a:off x="1620725" y="2372148"/>
            <a:ext cx="1021687" cy="98391"/>
          </a:xfrm>
          <a:prstGeom prst="rect">
            <a:avLst/>
          </a:prstGeom>
          <a:noFill/>
          <a:ln/>
        </p:spPr>
        <p:txBody>
          <a:bodyPr wrap="none" lIns="0" tIns="0" rIns="0" bIns="0" rtlCol="0" anchor="t"/>
          <a:lstStyle/>
          <a:p>
            <a:pPr marL="0" indent="0" algn="ctr">
              <a:lnSpc>
                <a:spcPct val="104000"/>
              </a:lnSpc>
              <a:buNone/>
            </a:pPr>
            <a:r>
              <a:rPr lang="en-US" sz="600" dirty="0">
                <a:solidFill>
                  <a:srgbClr val="3F3D3B"/>
                </a:solidFill>
                <a:latin typeface="Instrument Sans SemiBold" pitchFamily="34" charset="0"/>
                <a:ea typeface="Instrument Sans SemiBold" pitchFamily="34" charset="-122"/>
                <a:cs typeface="Instrument Sans SemiBold" pitchFamily="34" charset="-120"/>
              </a:rPr>
              <a:t>SHUMIM JOSEKSUAL</a:t>
            </a:r>
            <a:endParaRPr lang="en-US" sz="600" dirty="0"/>
          </a:p>
        </p:txBody>
      </p:sp>
      <p:sp>
        <p:nvSpPr>
          <p:cNvPr id="10" name="Text 7"/>
          <p:cNvSpPr/>
          <p:nvPr/>
        </p:nvSpPr>
        <p:spPr>
          <a:xfrm>
            <a:off x="1477407" y="3514141"/>
            <a:ext cx="675182" cy="157426"/>
          </a:xfrm>
          <a:prstGeom prst="rect">
            <a:avLst/>
          </a:prstGeom>
          <a:noFill/>
          <a:ln/>
        </p:spPr>
        <p:txBody>
          <a:bodyPr wrap="square" lIns="0" tIns="0" rIns="0" bIns="0" rtlCol="0" anchor="t">
            <a:normAutofit/>
          </a:bodyPr>
          <a:lstStyle/>
          <a:p>
            <a:pPr marL="0" indent="0" algn="ctr">
              <a:lnSpc>
                <a:spcPct val="104000"/>
              </a:lnSpc>
              <a:buNone/>
            </a:pPr>
            <a:r>
              <a:rPr lang="en-US" sz="450" dirty="0">
                <a:solidFill>
                  <a:srgbClr val="3F3D3B"/>
                </a:solidFill>
                <a:latin typeface="Instrument Sans" pitchFamily="34" charset="0"/>
                <a:ea typeface="Instrument Sans" pitchFamily="34" charset="-122"/>
                <a:cs typeface="Instrument Sans" pitchFamily="34" charset="-120"/>
              </a:rPr>
              <a:t>Krijim pasardhësish të rinj</a:t>
            </a:r>
            <a:endParaRPr lang="en-US" sz="450" dirty="0"/>
          </a:p>
        </p:txBody>
      </p:sp>
      <p:pic>
        <p:nvPicPr>
          <p:cNvPr id="11" name="Image 1" descr="preencoded.png"/>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1745468" y="3302163"/>
            <a:ext cx="97954" cy="97954"/>
          </a:xfrm>
          <a:prstGeom prst="rect">
            <a:avLst/>
          </a:prstGeom>
        </p:spPr>
      </p:pic>
      <p:sp>
        <p:nvSpPr>
          <p:cNvPr id="12" name="Text 8"/>
          <p:cNvSpPr/>
          <p:nvPr/>
        </p:nvSpPr>
        <p:spPr>
          <a:xfrm>
            <a:off x="2404470" y="3517640"/>
            <a:ext cx="675182" cy="157426"/>
          </a:xfrm>
          <a:prstGeom prst="rect">
            <a:avLst/>
          </a:prstGeom>
          <a:noFill/>
          <a:ln/>
        </p:spPr>
        <p:txBody>
          <a:bodyPr wrap="square" lIns="0" tIns="0" rIns="0" bIns="0" rtlCol="0" anchor="t">
            <a:normAutofit/>
          </a:bodyPr>
          <a:lstStyle/>
          <a:p>
            <a:pPr marL="0" indent="0" algn="ctr">
              <a:lnSpc>
                <a:spcPct val="104000"/>
              </a:lnSpc>
              <a:buNone/>
            </a:pPr>
            <a:r>
              <a:rPr lang="en-US" sz="450" dirty="0">
                <a:solidFill>
                  <a:srgbClr val="3F3D3B"/>
                </a:solidFill>
                <a:latin typeface="Instrument Sans" pitchFamily="34" charset="0"/>
                <a:ea typeface="Instrument Sans" pitchFamily="34" charset="-122"/>
                <a:cs typeface="Instrument Sans" pitchFamily="34" charset="-120"/>
              </a:rPr>
              <a:t>Vezë ose spore pa gametë</a:t>
            </a:r>
            <a:endParaRPr lang="en-US" sz="450" dirty="0"/>
          </a:p>
        </p:txBody>
      </p:sp>
      <p:pic>
        <p:nvPicPr>
          <p:cNvPr id="13" name="Image 2" descr="preencoded.png"/>
          <p:cNvPicPr>
            <a:picLocks noChangeAspect="1"/>
          </p:cNvPicPr>
          <p:nvPr/>
        </p:nvPicPr>
        <p:blipFill>
          <a:blip r:embed="rId4">
            <a:extLst>
              <a:ext uri="{96DAC541-7B7A-43D3-8B79-37D633B846F1}">
                <asvg:svgBlip xmlns="" xmlns:asvg="http://schemas.microsoft.com/office/drawing/2016/SVG/main" r:embed="rId6"/>
              </a:ext>
            </a:extLst>
          </a:blip>
          <a:stretch>
            <a:fillRect/>
          </a:stretch>
        </p:blipFill>
        <p:spPr>
          <a:xfrm>
            <a:off x="2693084" y="3304240"/>
            <a:ext cx="97954" cy="97954"/>
          </a:xfrm>
          <a:prstGeom prst="rect">
            <a:avLst/>
          </a:prstGeom>
        </p:spPr>
      </p:pic>
      <p:sp>
        <p:nvSpPr>
          <p:cNvPr id="14" name="Text 9"/>
          <p:cNvSpPr/>
          <p:nvPr/>
        </p:nvSpPr>
        <p:spPr>
          <a:xfrm>
            <a:off x="2175870" y="2909801"/>
            <a:ext cx="903782" cy="78713"/>
          </a:xfrm>
          <a:prstGeom prst="rect">
            <a:avLst/>
          </a:prstGeom>
          <a:noFill/>
          <a:ln/>
        </p:spPr>
        <p:txBody>
          <a:bodyPr wrap="none" lIns="0" tIns="0" rIns="0" bIns="0" rtlCol="0" anchor="t"/>
          <a:lstStyle/>
          <a:p>
            <a:pPr marL="0" indent="0" algn="ctr">
              <a:lnSpc>
                <a:spcPct val="104000"/>
              </a:lnSpc>
              <a:buNone/>
            </a:pPr>
            <a:r>
              <a:rPr lang="en-US" sz="450" dirty="0">
                <a:solidFill>
                  <a:srgbClr val="3F3D3B"/>
                </a:solidFill>
                <a:latin typeface="Instrument Sans" pitchFamily="34" charset="0"/>
                <a:ea typeface="Instrument Sans" pitchFamily="34" charset="-122"/>
                <a:cs typeface="Instrument Sans" pitchFamily="34" charset="-120"/>
              </a:rPr>
              <a:t>Bashkim gametash</a:t>
            </a:r>
            <a:endParaRPr lang="en-US" sz="450" dirty="0"/>
          </a:p>
        </p:txBody>
      </p:sp>
      <p:pic>
        <p:nvPicPr>
          <p:cNvPr id="15" name="Image 3" descr="preencoded.png"/>
          <p:cNvPicPr>
            <a:picLocks noChangeAspect="1"/>
          </p:cNvPicPr>
          <p:nvPr/>
        </p:nvPicPr>
        <p:blipFill>
          <a:blip r:embed="rId4">
            <a:extLst>
              <a:ext uri="{96DAC541-7B7A-43D3-8B79-37D633B846F1}">
                <asvg:svgBlip xmlns="" xmlns:asvg="http://schemas.microsoft.com/office/drawing/2016/SVG/main" r:embed="rId7"/>
              </a:ext>
            </a:extLst>
          </a:blip>
          <a:stretch>
            <a:fillRect/>
          </a:stretch>
        </p:blipFill>
        <p:spPr>
          <a:xfrm>
            <a:off x="2693084" y="2657045"/>
            <a:ext cx="97954" cy="97954"/>
          </a:xfrm>
          <a:prstGeom prst="rect">
            <a:avLst/>
          </a:prstGeom>
        </p:spPr>
      </p:pic>
      <p:sp>
        <p:nvSpPr>
          <p:cNvPr id="16" name="Text 10"/>
          <p:cNvSpPr/>
          <p:nvPr/>
        </p:nvSpPr>
        <p:spPr>
          <a:xfrm>
            <a:off x="1456417" y="2870445"/>
            <a:ext cx="675182" cy="157426"/>
          </a:xfrm>
          <a:prstGeom prst="rect">
            <a:avLst/>
          </a:prstGeom>
          <a:noFill/>
          <a:ln/>
        </p:spPr>
        <p:txBody>
          <a:bodyPr wrap="square" lIns="0" tIns="0" rIns="0" bIns="0" rtlCol="0" anchor="t">
            <a:normAutofit/>
          </a:bodyPr>
          <a:lstStyle/>
          <a:p>
            <a:pPr marL="0" indent="0" algn="ctr">
              <a:lnSpc>
                <a:spcPct val="104000"/>
              </a:lnSpc>
              <a:buNone/>
            </a:pPr>
            <a:r>
              <a:rPr lang="en-US" sz="450" dirty="0">
                <a:solidFill>
                  <a:srgbClr val="3F3D3B"/>
                </a:solidFill>
                <a:latin typeface="Instrument Sans" pitchFamily="34" charset="0"/>
                <a:ea typeface="Instrument Sans" pitchFamily="34" charset="-122"/>
                <a:cs typeface="Instrument Sans" pitchFamily="34" charset="-120"/>
              </a:rPr>
              <a:t>Ripërtëritje nga një pjesë</a:t>
            </a:r>
            <a:endParaRPr lang="en-US" sz="450" dirty="0"/>
          </a:p>
        </p:txBody>
      </p:sp>
      <p:pic>
        <p:nvPicPr>
          <p:cNvPr id="17" name="Image 4" descr="preencoded.png"/>
          <p:cNvPicPr>
            <a:picLocks noChangeAspect="1"/>
          </p:cNvPicPr>
          <p:nvPr/>
        </p:nvPicPr>
        <p:blipFill>
          <a:blip r:embed="rId4">
            <a:extLst>
              <a:ext uri="{96DAC541-7B7A-43D3-8B79-37D633B846F1}">
                <asvg:svgBlip xmlns="" xmlns:asvg="http://schemas.microsoft.com/office/drawing/2016/SVG/main" r:embed="rId9"/>
              </a:ext>
            </a:extLst>
          </a:blip>
          <a:stretch>
            <a:fillRect/>
          </a:stretch>
        </p:blipFill>
        <p:spPr>
          <a:xfrm>
            <a:off x="1745031" y="2657045"/>
            <a:ext cx="97954" cy="97954"/>
          </a:xfrm>
          <a:prstGeom prst="rect">
            <a:avLst/>
          </a:prstGeom>
        </p:spPr>
      </p:pic>
      <p:sp>
        <p:nvSpPr>
          <p:cNvPr id="18" name="Shape 11"/>
          <p:cNvSpPr/>
          <p:nvPr/>
        </p:nvSpPr>
        <p:spPr>
          <a:xfrm>
            <a:off x="4444826" y="1064568"/>
            <a:ext cx="14288" cy="1961257"/>
          </a:xfrm>
          <a:prstGeom prst="roundRect">
            <a:avLst>
              <a:gd name="adj" fmla="val 1302278"/>
            </a:avLst>
          </a:prstGeom>
          <a:solidFill>
            <a:srgbClr val="000000">
              <a:alpha val="8000"/>
            </a:srgbClr>
          </a:solidFill>
          <a:ln/>
        </p:spPr>
      </p:sp>
      <p:sp>
        <p:nvSpPr>
          <p:cNvPr id="19" name="Shape 12"/>
          <p:cNvSpPr/>
          <p:nvPr/>
        </p:nvSpPr>
        <p:spPr>
          <a:xfrm>
            <a:off x="4570065" y="1196950"/>
            <a:ext cx="372070" cy="14288"/>
          </a:xfrm>
          <a:prstGeom prst="roundRect">
            <a:avLst>
              <a:gd name="adj" fmla="val 1302278"/>
            </a:avLst>
          </a:prstGeom>
          <a:solidFill>
            <a:srgbClr val="C9A280"/>
          </a:solidFill>
          <a:ln/>
        </p:spPr>
      </p:sp>
      <p:sp>
        <p:nvSpPr>
          <p:cNvPr id="20" name="Shape 13"/>
          <p:cNvSpPr/>
          <p:nvPr/>
        </p:nvSpPr>
        <p:spPr>
          <a:xfrm>
            <a:off x="4305300" y="1064568"/>
            <a:ext cx="279053" cy="279053"/>
          </a:xfrm>
          <a:prstGeom prst="roundRect">
            <a:avLst>
              <a:gd name="adj" fmla="val 66679"/>
            </a:avLst>
          </a:prstGeom>
          <a:solidFill>
            <a:srgbClr val="E3BC9A"/>
          </a:solidFill>
          <a:ln/>
        </p:spPr>
      </p:sp>
      <p:pic>
        <p:nvPicPr>
          <p:cNvPr id="21" name="Image 5" descr="preencoded.png"/>
          <p:cNvPicPr>
            <a:picLocks noChangeAspect="1"/>
          </p:cNvPicPr>
          <p:nvPr/>
        </p:nvPicPr>
        <p:blipFill>
          <a:blip r:embed="rId4">
            <a:extLst>
              <a:ext uri="{96DAC541-7B7A-43D3-8B79-37D633B846F1}">
                <asvg:svgBlip xmlns="" xmlns:asvg="http://schemas.microsoft.com/office/drawing/2016/SVG/main" r:embed="rId11"/>
              </a:ext>
            </a:extLst>
          </a:blip>
          <a:stretch>
            <a:fillRect/>
          </a:stretch>
        </p:blipFill>
        <p:spPr>
          <a:xfrm>
            <a:off x="4351809" y="1111039"/>
            <a:ext cx="186035" cy="186035"/>
          </a:xfrm>
          <a:prstGeom prst="rect">
            <a:avLst/>
          </a:prstGeom>
        </p:spPr>
      </p:pic>
      <p:sp>
        <p:nvSpPr>
          <p:cNvPr id="22" name="Text 14"/>
          <p:cNvSpPr/>
          <p:nvPr/>
        </p:nvSpPr>
        <p:spPr>
          <a:xfrm>
            <a:off x="5065068" y="1107207"/>
            <a:ext cx="1629594" cy="193849"/>
          </a:xfrm>
          <a:prstGeom prst="rect">
            <a:avLst/>
          </a:prstGeom>
          <a:noFill/>
          <a:ln/>
        </p:spPr>
        <p:txBody>
          <a:bodyPr wrap="none" lIns="0" tIns="0" rIns="0" bIns="0" rtlCol="0" anchor="t"/>
          <a:lstStyle/>
          <a:p>
            <a:pPr marL="0" indent="0" algn="l">
              <a:lnSpc>
                <a:spcPct val="104000"/>
              </a:lnSpc>
              <a:buNone/>
            </a:pPr>
            <a:r>
              <a:rPr lang="en-US" sz="1200" dirty="0">
                <a:solidFill>
                  <a:srgbClr val="3F3D3B"/>
                </a:solidFill>
                <a:latin typeface="Instrument Sans SemiBold" pitchFamily="34" charset="0"/>
                <a:ea typeface="Instrument Sans SemiBold" pitchFamily="34" charset="-122"/>
                <a:cs typeface="Instrument Sans SemiBold" pitchFamily="34" charset="-120"/>
              </a:rPr>
              <a:t>SHUMIMI VEGJETATIV</a:t>
            </a:r>
            <a:endParaRPr lang="en-US" sz="1200" dirty="0"/>
          </a:p>
        </p:txBody>
      </p:sp>
      <p:sp>
        <p:nvSpPr>
          <p:cNvPr id="23" name="Text 15"/>
          <p:cNvSpPr/>
          <p:nvPr/>
        </p:nvSpPr>
        <p:spPr>
          <a:xfrm>
            <a:off x="5065068" y="1425029"/>
            <a:ext cx="3587502"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F3D3B"/>
                </a:solidFill>
                <a:latin typeface="Instrument Sans" pitchFamily="34" charset="0"/>
                <a:ea typeface="Instrument Sans" pitchFamily="34" charset="-122"/>
                <a:cs typeface="Instrument Sans" pitchFamily="34" charset="-120"/>
              </a:rPr>
              <a:t>Kryhet në saje të aftësisë regjeneruese të bimës, ku prej një pjese të organizmit krijohet tërë organizmi i ri</a:t>
            </a:r>
            <a:endParaRPr lang="en-US" sz="950" dirty="0"/>
          </a:p>
        </p:txBody>
      </p:sp>
      <p:sp>
        <p:nvSpPr>
          <p:cNvPr id="24" name="Shape 16"/>
          <p:cNvSpPr/>
          <p:nvPr/>
        </p:nvSpPr>
        <p:spPr>
          <a:xfrm>
            <a:off x="4570065" y="2202359"/>
            <a:ext cx="372070" cy="14288"/>
          </a:xfrm>
          <a:prstGeom prst="roundRect">
            <a:avLst>
              <a:gd name="adj" fmla="val 1302278"/>
            </a:avLst>
          </a:prstGeom>
          <a:solidFill>
            <a:srgbClr val="C9A280"/>
          </a:solidFill>
          <a:ln/>
        </p:spPr>
      </p:sp>
      <p:sp>
        <p:nvSpPr>
          <p:cNvPr id="25" name="Shape 17"/>
          <p:cNvSpPr/>
          <p:nvPr/>
        </p:nvSpPr>
        <p:spPr>
          <a:xfrm>
            <a:off x="4305300" y="2069976"/>
            <a:ext cx="279053" cy="279053"/>
          </a:xfrm>
          <a:prstGeom prst="roundRect">
            <a:avLst>
              <a:gd name="adj" fmla="val 66679"/>
            </a:avLst>
          </a:prstGeom>
          <a:solidFill>
            <a:srgbClr val="E3BC9A"/>
          </a:solidFill>
          <a:ln/>
        </p:spPr>
      </p:sp>
      <p:pic>
        <p:nvPicPr>
          <p:cNvPr id="26" name="Image 6" descr="preencoded.png"/>
          <p:cNvPicPr>
            <a:picLocks noChangeAspect="1"/>
          </p:cNvPicPr>
          <p:nvPr/>
        </p:nvPicPr>
        <p:blipFill>
          <a:blip r:embed="rId4">
            <a:extLst>
              <a:ext uri="{96DAC541-7B7A-43D3-8B79-37D633B846F1}">
                <asvg:svgBlip xmlns="" xmlns:asvg="http://schemas.microsoft.com/office/drawing/2016/SVG/main" r:embed="rId13"/>
              </a:ext>
            </a:extLst>
          </a:blip>
          <a:stretch>
            <a:fillRect/>
          </a:stretch>
        </p:blipFill>
        <p:spPr>
          <a:xfrm>
            <a:off x="4351809" y="2116448"/>
            <a:ext cx="186035" cy="186035"/>
          </a:xfrm>
          <a:prstGeom prst="rect">
            <a:avLst/>
          </a:prstGeom>
        </p:spPr>
      </p:pic>
      <p:sp>
        <p:nvSpPr>
          <p:cNvPr id="27" name="Text 18"/>
          <p:cNvSpPr/>
          <p:nvPr/>
        </p:nvSpPr>
        <p:spPr>
          <a:xfrm>
            <a:off x="5065068" y="2112615"/>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3F3D3B"/>
                </a:solidFill>
                <a:latin typeface="Instrument Sans SemiBold" pitchFamily="34" charset="0"/>
                <a:ea typeface="Instrument Sans SemiBold" pitchFamily="34" charset="-122"/>
                <a:cs typeface="Instrument Sans SemiBold" pitchFamily="34" charset="-120"/>
              </a:rPr>
              <a:t>SHUMIMI SEKSUAL</a:t>
            </a:r>
            <a:endParaRPr lang="en-US" sz="1200" dirty="0"/>
          </a:p>
        </p:txBody>
      </p:sp>
      <p:sp>
        <p:nvSpPr>
          <p:cNvPr id="28" name="Text 19"/>
          <p:cNvSpPr/>
          <p:nvPr/>
        </p:nvSpPr>
        <p:spPr>
          <a:xfrm>
            <a:off x="5065068" y="2430438"/>
            <a:ext cx="3587502"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F3D3B"/>
                </a:solidFill>
                <a:latin typeface="Instrument Sans" pitchFamily="34" charset="0"/>
                <a:ea typeface="Instrument Sans" pitchFamily="34" charset="-122"/>
                <a:cs typeface="Instrument Sans" pitchFamily="34" charset="-120"/>
              </a:rPr>
              <a:t>Përfshin formimin e gameteve (mikrosporogjeneza dhe makrosporogjeneza) dhe fekondimin për krijimin e pasardhësve</a:t>
            </a:r>
            <a:endParaRPr lang="en-US" sz="950" dirty="0"/>
          </a:p>
        </p:txBody>
      </p:sp>
      <p:sp>
        <p:nvSpPr>
          <p:cNvPr id="29" name="Shape 20"/>
          <p:cNvSpPr/>
          <p:nvPr/>
        </p:nvSpPr>
        <p:spPr>
          <a:xfrm>
            <a:off x="4305300" y="3361804"/>
            <a:ext cx="4347270" cy="14288"/>
          </a:xfrm>
          <a:prstGeom prst="rect">
            <a:avLst/>
          </a:prstGeom>
          <a:solidFill>
            <a:srgbClr val="E3BC9A"/>
          </a:solidFill>
          <a:ln/>
        </p:spPr>
      </p:sp>
      <p:sp>
        <p:nvSpPr>
          <p:cNvPr id="30" name="Text 21"/>
          <p:cNvSpPr/>
          <p:nvPr/>
        </p:nvSpPr>
        <p:spPr>
          <a:xfrm>
            <a:off x="4305300" y="3452366"/>
            <a:ext cx="4347270"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3F3D3B"/>
                </a:solidFill>
                <a:latin typeface="Instrument Sans SemiBold" pitchFamily="34" charset="0"/>
                <a:ea typeface="Instrument Sans SemiBold" pitchFamily="34" charset="-122"/>
                <a:cs typeface="Instrument Sans SemiBold" pitchFamily="34" charset="-120"/>
              </a:rPr>
              <a:t>SHUMIMI VEGJETATIV MUND TË JETË NATYROR DHE ARTIFICIAL.</a:t>
            </a:r>
            <a:endParaRPr lang="en-US" sz="1200" dirty="0"/>
          </a:p>
        </p:txBody>
      </p:sp>
      <p:sp>
        <p:nvSpPr>
          <p:cNvPr id="31" name="Text 22"/>
          <p:cNvSpPr/>
          <p:nvPr/>
        </p:nvSpPr>
        <p:spPr>
          <a:xfrm>
            <a:off x="4305300" y="3964037"/>
            <a:ext cx="4347270"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3F3D3B"/>
                </a:solidFill>
                <a:latin typeface="Instrument Sans" pitchFamily="34" charset="0"/>
                <a:ea typeface="Instrument Sans" pitchFamily="34" charset="-122"/>
                <a:cs typeface="Instrument Sans" pitchFamily="34" charset="-120"/>
              </a:rPr>
              <a:t>Forma natyrore kryhet vetvetiu përmes organeve vegjetative të metamorfozuara si stolone, zhardhokë, rizoma dhe bulbe. Forma artificiale përfshin teknika moderne si kulturat indore laboratorike.</a:t>
            </a:r>
            <a:endParaRPr lang="en-US" sz="950" dirty="0"/>
          </a:p>
        </p:txBody>
      </p:sp>
      <p:sp>
        <p:nvSpPr>
          <p:cNvPr id="32" name="Rectangle 31"/>
          <p:cNvSpPr/>
          <p:nvPr/>
        </p:nvSpPr>
        <p:spPr>
          <a:xfrm>
            <a:off x="1224502" y="173514"/>
            <a:ext cx="2218877" cy="369332"/>
          </a:xfrm>
          <a:prstGeom prst="rect">
            <a:avLst/>
          </a:prstGeom>
        </p:spPr>
        <p:txBody>
          <a:bodyPr wrap="none">
            <a:spAutoFit/>
          </a:bodyPr>
          <a:lstStyle/>
          <a:p>
            <a:r>
              <a:rPr lang="en-US" dirty="0" smtClean="0">
                <a:solidFill>
                  <a:srgbClr val="A0622C"/>
                </a:solidFill>
                <a:latin typeface="Instrument Sans SemiBold" pitchFamily="34" charset="0"/>
                <a:ea typeface="Instrument Sans SemiBold" pitchFamily="34" charset="-122"/>
                <a:cs typeface="Instrument Sans SemiBold" pitchFamily="34" charset="-120"/>
              </a:rPr>
              <a:t>SHUMIMI I BIMEVE</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372100" y="0"/>
            <a:ext cx="3771900" cy="5143500"/>
          </a:xfrm>
          <a:prstGeom prst="rect">
            <a:avLst/>
          </a:prstGeom>
        </p:spPr>
      </p:pic>
      <p:sp>
        <p:nvSpPr>
          <p:cNvPr id="3" name="Text 0"/>
          <p:cNvSpPr/>
          <p:nvPr/>
        </p:nvSpPr>
        <p:spPr>
          <a:xfrm>
            <a:off x="488379" y="353244"/>
            <a:ext cx="4738241" cy="534293"/>
          </a:xfrm>
          <a:prstGeom prst="rect">
            <a:avLst/>
          </a:prstGeom>
          <a:noFill/>
          <a:ln/>
        </p:spPr>
        <p:txBody>
          <a:bodyPr wrap="square" lIns="0" tIns="0" rIns="0" bIns="0" rtlCol="0" anchor="t">
            <a:normAutofit/>
          </a:bodyPr>
          <a:lstStyle/>
          <a:p>
            <a:pPr marL="0" indent="0" algn="l">
              <a:lnSpc>
                <a:spcPct val="104000"/>
              </a:lnSpc>
              <a:buNone/>
            </a:pPr>
            <a:r>
              <a:rPr lang="en-US" sz="1650" dirty="0">
                <a:solidFill>
                  <a:srgbClr val="A0622C"/>
                </a:solidFill>
                <a:latin typeface="Instrument Sans SemiBold" pitchFamily="34" charset="0"/>
                <a:ea typeface="Instrument Sans SemiBold" pitchFamily="34" charset="-122"/>
                <a:cs typeface="Instrument Sans SemiBold" pitchFamily="34" charset="-120"/>
              </a:rPr>
              <a:t>SHUMIMI VEGJETATIV: FORMAT DHE MEKANIZMAT</a:t>
            </a:r>
            <a:endParaRPr lang="en-US" sz="1650" dirty="0"/>
          </a:p>
        </p:txBody>
      </p:sp>
      <p:sp>
        <p:nvSpPr>
          <p:cNvPr id="4" name="Text 1"/>
          <p:cNvSpPr/>
          <p:nvPr/>
        </p:nvSpPr>
        <p:spPr>
          <a:xfrm>
            <a:off x="488379" y="975866"/>
            <a:ext cx="4738241" cy="230981"/>
          </a:xfrm>
          <a:prstGeom prst="rect">
            <a:avLst/>
          </a:prstGeom>
          <a:noFill/>
          <a:ln/>
        </p:spPr>
        <p:txBody>
          <a:bodyPr wrap="square" lIns="0" tIns="0" rIns="0" bIns="0" rtlCol="0" anchor="t">
            <a:normAutofit/>
          </a:bodyPr>
          <a:lstStyle/>
          <a:p>
            <a:pPr marL="0" indent="0" algn="l">
              <a:lnSpc>
                <a:spcPct val="113000"/>
              </a:lnSpc>
              <a:buNone/>
            </a:pPr>
            <a:r>
              <a:rPr lang="en-US" sz="650" dirty="0">
                <a:solidFill>
                  <a:srgbClr val="3F3D3B"/>
                </a:solidFill>
                <a:latin typeface="Instrument Sans" pitchFamily="34" charset="0"/>
                <a:ea typeface="Instrument Sans" pitchFamily="34" charset="-122"/>
                <a:cs typeface="Instrument Sans" pitchFamily="34" charset="-120"/>
              </a:rPr>
              <a:t>Shumimi vegjetativ kryhet në saje të aftësisë regjeneruese të bimës. Kjo formë shumimi kryhet kryesisht përmes organeve themelore vegjetative të metamorfozuara — rrënjës, kërcellit dhe gjetheve.</a:t>
            </a:r>
            <a:endParaRPr lang="en-US" sz="650" dirty="0"/>
          </a:p>
        </p:txBody>
      </p:sp>
      <p:pic>
        <p:nvPicPr>
          <p:cNvPr id="5" name="Image 1" descr="preencoded.png"/>
          <p:cNvPicPr>
            <a:picLocks noChangeAspect="1"/>
          </p:cNvPicPr>
          <p:nvPr/>
        </p:nvPicPr>
        <p:blipFill>
          <a:blip r:embed="rId4"/>
          <a:stretch>
            <a:fillRect/>
          </a:stretch>
        </p:blipFill>
        <p:spPr>
          <a:xfrm>
            <a:off x="488379" y="1273076"/>
            <a:ext cx="3316709" cy="1425699"/>
          </a:xfrm>
          <a:prstGeom prst="rect">
            <a:avLst/>
          </a:prstGeom>
        </p:spPr>
      </p:pic>
      <p:pic>
        <p:nvPicPr>
          <p:cNvPr id="6" name="Image 2" descr="preencoded.png"/>
          <p:cNvPicPr>
            <a:picLocks noChangeAspect="1"/>
          </p:cNvPicPr>
          <p:nvPr/>
        </p:nvPicPr>
        <p:blipFill>
          <a:blip r:embed="rId5"/>
          <a:stretch>
            <a:fillRect/>
          </a:stretch>
        </p:blipFill>
        <p:spPr>
          <a:xfrm>
            <a:off x="488379" y="2765003"/>
            <a:ext cx="256356" cy="714375"/>
          </a:xfrm>
          <a:prstGeom prst="rect">
            <a:avLst/>
          </a:prstGeom>
        </p:spPr>
      </p:pic>
      <p:sp>
        <p:nvSpPr>
          <p:cNvPr id="7" name="Text 2"/>
          <p:cNvSpPr/>
          <p:nvPr/>
        </p:nvSpPr>
        <p:spPr>
          <a:xfrm>
            <a:off x="803597" y="2850431"/>
            <a:ext cx="1987600" cy="160213"/>
          </a:xfrm>
          <a:prstGeom prst="rect">
            <a:avLst/>
          </a:prstGeom>
          <a:noFill/>
          <a:ln/>
        </p:spPr>
        <p:txBody>
          <a:bodyPr wrap="none" lIns="0" tIns="0" rIns="0" bIns="0" rtlCol="0" anchor="t"/>
          <a:lstStyle/>
          <a:p>
            <a:pPr marL="0" indent="0" algn="l">
              <a:lnSpc>
                <a:spcPct val="104000"/>
              </a:lnSpc>
              <a:buNone/>
            </a:pPr>
            <a:r>
              <a:rPr lang="en-US" sz="1000" dirty="0">
                <a:solidFill>
                  <a:srgbClr val="3F3D3B"/>
                </a:solidFill>
                <a:latin typeface="Instrument Sans SemiBold" pitchFamily="34" charset="0"/>
                <a:ea typeface="Instrument Sans SemiBold" pitchFamily="34" charset="-122"/>
                <a:cs typeface="Instrument Sans SemiBold" pitchFamily="34" charset="-120"/>
              </a:rPr>
              <a:t>SHUMIMI VEGJETATIV NATYROR</a:t>
            </a:r>
            <a:endParaRPr lang="en-US" sz="1000" dirty="0"/>
          </a:p>
        </p:txBody>
      </p:sp>
      <p:sp>
        <p:nvSpPr>
          <p:cNvPr id="8" name="Text 3"/>
          <p:cNvSpPr/>
          <p:nvPr/>
        </p:nvSpPr>
        <p:spPr>
          <a:xfrm>
            <a:off x="803597" y="3045916"/>
            <a:ext cx="4423023" cy="346472"/>
          </a:xfrm>
          <a:prstGeom prst="rect">
            <a:avLst/>
          </a:prstGeom>
          <a:noFill/>
          <a:ln/>
        </p:spPr>
        <p:txBody>
          <a:bodyPr wrap="square" lIns="0" tIns="0" rIns="0" bIns="0" rtlCol="0" anchor="t">
            <a:normAutofit/>
          </a:bodyPr>
          <a:lstStyle/>
          <a:p>
            <a:pPr marL="0" indent="0" algn="l">
              <a:lnSpc>
                <a:spcPct val="113000"/>
              </a:lnSpc>
              <a:buNone/>
            </a:pPr>
            <a:r>
              <a:rPr lang="en-US" sz="650" dirty="0">
                <a:solidFill>
                  <a:srgbClr val="3F3D3B"/>
                </a:solidFill>
                <a:latin typeface="Instrument Sans" pitchFamily="34" charset="0"/>
                <a:ea typeface="Instrument Sans" pitchFamily="34" charset="-122"/>
                <a:cs typeface="Instrument Sans" pitchFamily="34" charset="-120"/>
              </a:rPr>
              <a:t>Kryhet vetvetiu përmes stoloneve, zhardhokëve rrënjorë dhe kërcellorë, rizomave dhe bulbeve. Tek dredhëza (</a:t>
            </a:r>
            <a:r>
              <a:rPr lang="en-US" sz="650" i="1" dirty="0">
                <a:solidFill>
                  <a:srgbClr val="3F3D3B"/>
                </a:solidFill>
                <a:latin typeface="Instrument Sans" pitchFamily="34" charset="0"/>
                <a:ea typeface="Instrument Sans" pitchFamily="34" charset="-122"/>
                <a:cs typeface="Instrument Sans" pitchFamily="34" charset="-120"/>
              </a:rPr>
              <a:t>Fragaria vesca</a:t>
            </a:r>
            <a:r>
              <a:rPr lang="en-US" sz="650" dirty="0">
                <a:solidFill>
                  <a:srgbClr val="3F3D3B"/>
                </a:solidFill>
                <a:latin typeface="Instrument Sans" pitchFamily="34" charset="0"/>
                <a:ea typeface="Instrument Sans" pitchFamily="34" charset="-122"/>
                <a:cs typeface="Instrument Sans" pitchFamily="34" charset="-120"/>
              </a:rPr>
              <a:t>) kryhet përmes stoloneve — kërcelj që shtrihen mbi sipërfaqen e dheut dhe krijojnë bimë identike me bimën amë.</a:t>
            </a:r>
            <a:endParaRPr lang="en-US" sz="650" dirty="0"/>
          </a:p>
        </p:txBody>
      </p:sp>
      <p:pic>
        <p:nvPicPr>
          <p:cNvPr id="9" name="Image 3" descr="preencoded.png"/>
          <p:cNvPicPr>
            <a:picLocks noChangeAspect="1"/>
          </p:cNvPicPr>
          <p:nvPr/>
        </p:nvPicPr>
        <p:blipFill>
          <a:blip r:embed="rId6"/>
          <a:stretch>
            <a:fillRect/>
          </a:stretch>
        </p:blipFill>
        <p:spPr>
          <a:xfrm>
            <a:off x="616521" y="3536677"/>
            <a:ext cx="256356" cy="714375"/>
          </a:xfrm>
          <a:prstGeom prst="rect">
            <a:avLst/>
          </a:prstGeom>
        </p:spPr>
      </p:pic>
      <p:sp>
        <p:nvSpPr>
          <p:cNvPr id="10" name="Text 4"/>
          <p:cNvSpPr/>
          <p:nvPr/>
        </p:nvSpPr>
        <p:spPr>
          <a:xfrm>
            <a:off x="931738" y="3622104"/>
            <a:ext cx="2069381" cy="160213"/>
          </a:xfrm>
          <a:prstGeom prst="rect">
            <a:avLst/>
          </a:prstGeom>
          <a:noFill/>
          <a:ln/>
        </p:spPr>
        <p:txBody>
          <a:bodyPr wrap="none" lIns="0" tIns="0" rIns="0" bIns="0" rtlCol="0" anchor="t"/>
          <a:lstStyle/>
          <a:p>
            <a:pPr marL="0" indent="0" algn="l">
              <a:lnSpc>
                <a:spcPct val="104000"/>
              </a:lnSpc>
              <a:buNone/>
            </a:pPr>
            <a:r>
              <a:rPr lang="en-US" sz="1000" dirty="0">
                <a:solidFill>
                  <a:srgbClr val="3F3D3B"/>
                </a:solidFill>
                <a:latin typeface="Instrument Sans SemiBold" pitchFamily="34" charset="0"/>
                <a:ea typeface="Instrument Sans SemiBold" pitchFamily="34" charset="-122"/>
                <a:cs typeface="Instrument Sans SemiBold" pitchFamily="34" charset="-120"/>
              </a:rPr>
              <a:t>SHUMIMI VEGJETATIV ARTIFICIAL</a:t>
            </a:r>
            <a:endParaRPr lang="en-US" sz="1000" dirty="0"/>
          </a:p>
        </p:txBody>
      </p:sp>
      <p:sp>
        <p:nvSpPr>
          <p:cNvPr id="11" name="Text 5"/>
          <p:cNvSpPr/>
          <p:nvPr/>
        </p:nvSpPr>
        <p:spPr>
          <a:xfrm>
            <a:off x="931738" y="3817590"/>
            <a:ext cx="4294882" cy="230981"/>
          </a:xfrm>
          <a:prstGeom prst="rect">
            <a:avLst/>
          </a:prstGeom>
          <a:noFill/>
          <a:ln/>
        </p:spPr>
        <p:txBody>
          <a:bodyPr wrap="square" lIns="0" tIns="0" rIns="0" bIns="0" rtlCol="0" anchor="t">
            <a:normAutofit/>
          </a:bodyPr>
          <a:lstStyle/>
          <a:p>
            <a:pPr marL="0" indent="0" algn="l">
              <a:lnSpc>
                <a:spcPct val="113000"/>
              </a:lnSpc>
              <a:buNone/>
            </a:pPr>
            <a:r>
              <a:rPr lang="en-US" sz="650" dirty="0">
                <a:solidFill>
                  <a:srgbClr val="3F3D3B"/>
                </a:solidFill>
                <a:latin typeface="Instrument Sans" pitchFamily="34" charset="0"/>
                <a:ea typeface="Instrument Sans" pitchFamily="34" charset="-122"/>
                <a:cs typeface="Instrument Sans" pitchFamily="34" charset="-120"/>
              </a:rPr>
              <a:t>Mund të kryhet me pjesë të kërcellit, sythe vegjetative dhe me pjesë të rrënjës. Shumimi vegjetativ me gjethe ose pjesë të gjetheve është karakteristik te begonia.</a:t>
            </a:r>
            <a:endParaRPr lang="en-US" sz="650" dirty="0"/>
          </a:p>
        </p:txBody>
      </p:sp>
      <p:pic>
        <p:nvPicPr>
          <p:cNvPr id="12" name="Image 4" descr="preencoded.png"/>
          <p:cNvPicPr>
            <a:picLocks noChangeAspect="1"/>
          </p:cNvPicPr>
          <p:nvPr/>
        </p:nvPicPr>
        <p:blipFill>
          <a:blip r:embed="rId7"/>
          <a:stretch>
            <a:fillRect/>
          </a:stretch>
        </p:blipFill>
        <p:spPr>
          <a:xfrm>
            <a:off x="744736" y="4192860"/>
            <a:ext cx="256356" cy="714375"/>
          </a:xfrm>
          <a:prstGeom prst="rect">
            <a:avLst/>
          </a:prstGeom>
        </p:spPr>
      </p:pic>
      <p:sp>
        <p:nvSpPr>
          <p:cNvPr id="13" name="Text 6"/>
          <p:cNvSpPr/>
          <p:nvPr/>
        </p:nvSpPr>
        <p:spPr>
          <a:xfrm>
            <a:off x="1059954" y="4278288"/>
            <a:ext cx="2184202" cy="160213"/>
          </a:xfrm>
          <a:prstGeom prst="rect">
            <a:avLst/>
          </a:prstGeom>
          <a:noFill/>
          <a:ln/>
        </p:spPr>
        <p:txBody>
          <a:bodyPr wrap="none" lIns="0" tIns="0" rIns="0" bIns="0" rtlCol="0" anchor="t"/>
          <a:lstStyle/>
          <a:p>
            <a:pPr marL="0" indent="0" algn="l">
              <a:lnSpc>
                <a:spcPct val="104000"/>
              </a:lnSpc>
              <a:buNone/>
            </a:pPr>
            <a:r>
              <a:rPr lang="en-US" sz="1000" dirty="0">
                <a:solidFill>
                  <a:srgbClr val="3F3D3B"/>
                </a:solidFill>
                <a:latin typeface="Instrument Sans SemiBold" pitchFamily="34" charset="0"/>
                <a:ea typeface="Instrument Sans SemiBold" pitchFamily="34" charset="-122"/>
                <a:cs typeface="Instrument Sans SemiBold" pitchFamily="34" charset="-120"/>
              </a:rPr>
              <a:t>KULTURAT INDORE LABORATORIKE</a:t>
            </a:r>
            <a:endParaRPr lang="en-US" sz="1000" dirty="0"/>
          </a:p>
        </p:txBody>
      </p:sp>
      <p:sp>
        <p:nvSpPr>
          <p:cNvPr id="14" name="Text 7"/>
          <p:cNvSpPr/>
          <p:nvPr/>
        </p:nvSpPr>
        <p:spPr>
          <a:xfrm>
            <a:off x="1059954" y="4473773"/>
            <a:ext cx="4166667" cy="230981"/>
          </a:xfrm>
          <a:prstGeom prst="rect">
            <a:avLst/>
          </a:prstGeom>
          <a:noFill/>
          <a:ln/>
        </p:spPr>
        <p:txBody>
          <a:bodyPr wrap="square" lIns="0" tIns="0" rIns="0" bIns="0" rtlCol="0" anchor="t">
            <a:normAutofit/>
          </a:bodyPr>
          <a:lstStyle/>
          <a:p>
            <a:pPr marL="0" indent="0" algn="l">
              <a:lnSpc>
                <a:spcPct val="113000"/>
              </a:lnSpc>
              <a:buNone/>
            </a:pPr>
            <a:r>
              <a:rPr lang="en-US" sz="650" dirty="0">
                <a:solidFill>
                  <a:srgbClr val="3F3D3B"/>
                </a:solidFill>
                <a:latin typeface="Instrument Sans" pitchFamily="34" charset="0"/>
                <a:ea typeface="Instrument Sans" pitchFamily="34" charset="-122"/>
                <a:cs typeface="Instrument Sans" pitchFamily="34" charset="-120"/>
              </a:rPr>
              <a:t>Metodë bashkëkohore dhe e suksesshme e shumimit vegjetativ artificial, me të cilën krijohen bimë të dëshiruara prej pjesëve të caktuara — prej një qelize, grup qelizash ose indesh.</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60735" y="334267"/>
            <a:ext cx="777627" cy="133499"/>
          </a:xfrm>
          <a:prstGeom prst="roundRect">
            <a:avLst>
              <a:gd name="adj" fmla="val 72477"/>
            </a:avLst>
          </a:prstGeom>
          <a:solidFill>
            <a:srgbClr val="F4E5D7"/>
          </a:solidFill>
          <a:ln/>
        </p:spPr>
      </p:sp>
      <p:pic>
        <p:nvPicPr>
          <p:cNvPr id="3" name="Image 0" descr="preencoded.png"/>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544488" y="922809"/>
            <a:ext cx="64443" cy="64443"/>
          </a:xfrm>
          <a:prstGeom prst="rect">
            <a:avLst/>
          </a:prstGeom>
        </p:spPr>
      </p:pic>
      <p:sp>
        <p:nvSpPr>
          <p:cNvPr id="4" name="Text 1"/>
          <p:cNvSpPr/>
          <p:nvPr/>
        </p:nvSpPr>
        <p:spPr>
          <a:xfrm>
            <a:off x="496119" y="362307"/>
            <a:ext cx="1041425" cy="85130"/>
          </a:xfrm>
          <a:prstGeom prst="rect">
            <a:avLst/>
          </a:prstGeom>
          <a:noFill/>
          <a:ln/>
        </p:spPr>
        <p:txBody>
          <a:bodyPr wrap="none" lIns="0" tIns="0" rIns="0" bIns="0" rtlCol="0" anchor="t"/>
          <a:lstStyle/>
          <a:p>
            <a:pPr marL="0" indent="0" algn="l">
              <a:lnSpc>
                <a:spcPct val="110000"/>
              </a:lnSpc>
              <a:buNone/>
            </a:pPr>
            <a:r>
              <a:rPr lang="en-US" sz="500" dirty="0">
                <a:solidFill>
                  <a:srgbClr val="3F3D3B"/>
                </a:solidFill>
                <a:latin typeface="Instrument Sans" pitchFamily="34" charset="0"/>
                <a:ea typeface="Instrument Sans" pitchFamily="34" charset="-122"/>
                <a:cs typeface="Instrument Sans" pitchFamily="34" charset="-120"/>
              </a:rPr>
              <a:t>SHUMIMI SEKSUAL</a:t>
            </a:r>
            <a:endParaRPr lang="en-US" sz="500" dirty="0"/>
          </a:p>
        </p:txBody>
      </p:sp>
      <p:sp>
        <p:nvSpPr>
          <p:cNvPr id="5" name="Text 2"/>
          <p:cNvSpPr/>
          <p:nvPr/>
        </p:nvSpPr>
        <p:spPr>
          <a:xfrm>
            <a:off x="1716807" y="244264"/>
            <a:ext cx="4197102" cy="251966"/>
          </a:xfrm>
          <a:prstGeom prst="rect">
            <a:avLst/>
          </a:prstGeom>
          <a:noFill/>
          <a:ln/>
        </p:spPr>
        <p:txBody>
          <a:bodyPr wrap="none" lIns="0" tIns="0" rIns="0" bIns="0" rtlCol="0" anchor="t"/>
          <a:lstStyle/>
          <a:p>
            <a:pPr marL="0" indent="0" algn="l">
              <a:lnSpc>
                <a:spcPct val="104000"/>
              </a:lnSpc>
              <a:buNone/>
            </a:pPr>
            <a:r>
              <a:rPr lang="en-US" sz="1550" dirty="0">
                <a:solidFill>
                  <a:srgbClr val="A0622C"/>
                </a:solidFill>
                <a:latin typeface="Instrument Sans SemiBold" pitchFamily="34" charset="0"/>
                <a:ea typeface="Instrument Sans SemiBold" pitchFamily="34" charset="-122"/>
                <a:cs typeface="Instrument Sans SemiBold" pitchFamily="34" charset="-120"/>
              </a:rPr>
              <a:t>LULJA — ORGANI I SHUMIMIT SEKSUAL</a:t>
            </a:r>
            <a:endParaRPr lang="en-US" sz="1550" dirty="0"/>
          </a:p>
        </p:txBody>
      </p:sp>
      <p:sp>
        <p:nvSpPr>
          <p:cNvPr id="6" name="Text 3"/>
          <p:cNvSpPr/>
          <p:nvPr/>
        </p:nvSpPr>
        <p:spPr>
          <a:xfrm>
            <a:off x="415528" y="655895"/>
            <a:ext cx="8151763" cy="212824"/>
          </a:xfrm>
          <a:prstGeom prst="rect">
            <a:avLst/>
          </a:prstGeom>
          <a:noFill/>
          <a:ln/>
        </p:spPr>
        <p:txBody>
          <a:bodyPr wrap="square" lIns="0" tIns="0" rIns="0" bIns="0" rtlCol="0" anchor="t">
            <a:noAutofit/>
          </a:bodyPr>
          <a:lstStyle/>
          <a:p>
            <a:pPr marL="0" indent="0" algn="l">
              <a:lnSpc>
                <a:spcPct val="110000"/>
              </a:lnSpc>
              <a:buNone/>
            </a:pPr>
            <a:r>
              <a:rPr lang="en-US" sz="1600" dirty="0">
                <a:solidFill>
                  <a:srgbClr val="3F3D3B"/>
                </a:solidFill>
                <a:latin typeface="Instrument Sans" pitchFamily="34" charset="0"/>
                <a:ea typeface="Instrument Sans" pitchFamily="34" charset="-122"/>
                <a:cs typeface="Instrument Sans" pitchFamily="34" charset="-120"/>
              </a:rPr>
              <a:t>Lulja (</a:t>
            </a:r>
            <a:r>
              <a:rPr lang="en-US" sz="1600" i="1" dirty="0">
                <a:solidFill>
                  <a:srgbClr val="3F3D3B"/>
                </a:solidFill>
                <a:latin typeface="Instrument Sans" pitchFamily="34" charset="0"/>
                <a:ea typeface="Instrument Sans" pitchFamily="34" charset="-122"/>
                <a:cs typeface="Instrument Sans" pitchFamily="34" charset="-120"/>
              </a:rPr>
              <a:t>flos</a:t>
            </a:r>
            <a:r>
              <a:rPr lang="en-US" sz="1600" dirty="0">
                <a:solidFill>
                  <a:srgbClr val="3F3D3B"/>
                </a:solidFill>
                <a:latin typeface="Instrument Sans" pitchFamily="34" charset="0"/>
                <a:ea typeface="Instrument Sans" pitchFamily="34" charset="-122"/>
                <a:cs typeface="Instrument Sans" pitchFamily="34" charset="-120"/>
              </a:rPr>
              <a:t>) e farëveshurave është bisk i metamorfozuar me ndërnja shumë të shkurtër ose pa to. Edhe lulja krijohet nga sythi lulor. Në një lule të plotë dallojmë pjesët sterile (bishti, shtrati, sepalet, petalet) dhe ato fertile (thekët dhe pistili).</a:t>
            </a:r>
            <a:endParaRPr lang="en-US" sz="1600" dirty="0"/>
          </a:p>
        </p:txBody>
      </p:sp>
      <p:pic>
        <p:nvPicPr>
          <p:cNvPr id="7" name="Image 1" descr="preencoded.png"/>
          <p:cNvPicPr>
            <a:picLocks noChangeAspect="1"/>
          </p:cNvPicPr>
          <p:nvPr/>
        </p:nvPicPr>
        <p:blipFill>
          <a:blip r:embed="rId5"/>
          <a:stretch>
            <a:fillRect/>
          </a:stretch>
        </p:blipFill>
        <p:spPr>
          <a:xfrm>
            <a:off x="496119" y="1644997"/>
            <a:ext cx="2386013" cy="1619250"/>
          </a:xfrm>
          <a:prstGeom prst="rect">
            <a:avLst/>
          </a:prstGeom>
        </p:spPr>
      </p:pic>
      <p:sp>
        <p:nvSpPr>
          <p:cNvPr id="8" name="Shape 4"/>
          <p:cNvSpPr/>
          <p:nvPr/>
        </p:nvSpPr>
        <p:spPr>
          <a:xfrm>
            <a:off x="458445" y="3712146"/>
            <a:ext cx="2682329" cy="931962"/>
          </a:xfrm>
          <a:prstGeom prst="roundRect">
            <a:avLst>
              <a:gd name="adj" fmla="val 12978"/>
            </a:avLst>
          </a:prstGeom>
          <a:solidFill>
            <a:srgbClr val="E3BC9A"/>
          </a:solidFill>
          <a:ln/>
        </p:spPr>
      </p:sp>
      <p:sp>
        <p:nvSpPr>
          <p:cNvPr id="9" name="Shape 5"/>
          <p:cNvSpPr/>
          <p:nvPr/>
        </p:nvSpPr>
        <p:spPr>
          <a:xfrm>
            <a:off x="576709" y="3403774"/>
            <a:ext cx="241846" cy="241846"/>
          </a:xfrm>
          <a:prstGeom prst="roundRect">
            <a:avLst>
              <a:gd name="adj" fmla="val 23628377"/>
            </a:avLst>
          </a:prstGeom>
          <a:solidFill>
            <a:srgbClr val="3F3D3B"/>
          </a:solidFill>
          <a:ln/>
        </p:spPr>
      </p:sp>
      <p:pic>
        <p:nvPicPr>
          <p:cNvPr id="10" name="Image 2" descr="preencoded.png"/>
          <p:cNvPicPr>
            <a:picLocks noChangeAspect="1"/>
          </p:cNvPicPr>
          <p:nvPr/>
        </p:nvPicPr>
        <p:blipFill>
          <a:blip r:embed="rId3">
            <a:extLst>
              <a:ext uri="{96DAC541-7B7A-43D3-8B79-37D633B846F1}">
                <asvg:svgBlip xmlns="" xmlns:asvg="http://schemas.microsoft.com/office/drawing/2016/SVG/main" r:embed="rId6"/>
              </a:ext>
            </a:extLst>
          </a:blip>
          <a:stretch>
            <a:fillRect/>
          </a:stretch>
        </p:blipFill>
        <p:spPr>
          <a:xfrm>
            <a:off x="643235" y="3470300"/>
            <a:ext cx="108793" cy="108793"/>
          </a:xfrm>
          <a:prstGeom prst="rect">
            <a:avLst/>
          </a:prstGeom>
        </p:spPr>
      </p:pic>
      <p:sp>
        <p:nvSpPr>
          <p:cNvPr id="11" name="Text 6"/>
          <p:cNvSpPr/>
          <p:nvPr/>
        </p:nvSpPr>
        <p:spPr>
          <a:xfrm>
            <a:off x="608931" y="3855318"/>
            <a:ext cx="1268730" cy="171674"/>
          </a:xfrm>
          <a:prstGeom prst="rect">
            <a:avLst/>
          </a:prstGeom>
          <a:noFill/>
          <a:ln/>
        </p:spPr>
        <p:txBody>
          <a:bodyPr wrap="none" lIns="0" tIns="0" rIns="0" bIns="0" rtlCol="0" anchor="t"/>
          <a:lstStyle/>
          <a:p>
            <a:pPr marL="0" indent="0" algn="l">
              <a:lnSpc>
                <a:spcPct val="104000"/>
              </a:lnSpc>
              <a:buNone/>
            </a:pPr>
            <a:r>
              <a:rPr lang="en-US" sz="750" dirty="0">
                <a:solidFill>
                  <a:srgbClr val="3F3D3B"/>
                </a:solidFill>
                <a:latin typeface="Instrument Sans SemiBold" pitchFamily="34" charset="0"/>
                <a:ea typeface="Instrument Sans SemiBold" pitchFamily="34" charset="-122"/>
                <a:cs typeface="Instrument Sans SemiBold" pitchFamily="34" charset="-120"/>
              </a:rPr>
              <a:t>THEKU (</a:t>
            </a:r>
            <a:r>
              <a:rPr lang="en-US" sz="1000" dirty="0">
                <a:solidFill>
                  <a:srgbClr val="3F3D3B"/>
                </a:solidFill>
                <a:latin typeface="Instrument Sans SemiBold" pitchFamily="34" charset="0"/>
                <a:ea typeface="Instrument Sans SemiBold" pitchFamily="34" charset="-122"/>
                <a:cs typeface="Instrument Sans SemiBold" pitchFamily="34" charset="-120"/>
              </a:rPr>
              <a:t>ANDRECEUM</a:t>
            </a:r>
            <a:r>
              <a:rPr lang="en-US" sz="750" dirty="0">
                <a:solidFill>
                  <a:srgbClr val="3F3D3B"/>
                </a:solidFill>
                <a:latin typeface="Instrument Sans SemiBold" pitchFamily="34" charset="0"/>
                <a:ea typeface="Instrument Sans SemiBold" pitchFamily="34" charset="-122"/>
                <a:cs typeface="Instrument Sans SemiBold" pitchFamily="34" charset="-120"/>
              </a:rPr>
              <a:t>)</a:t>
            </a:r>
            <a:endParaRPr lang="en-US" sz="750" dirty="0"/>
          </a:p>
        </p:txBody>
      </p:sp>
      <p:sp>
        <p:nvSpPr>
          <p:cNvPr id="12" name="Text 7"/>
          <p:cNvSpPr/>
          <p:nvPr/>
        </p:nvSpPr>
        <p:spPr>
          <a:xfrm>
            <a:off x="496119" y="4093519"/>
            <a:ext cx="2521148" cy="499421"/>
          </a:xfrm>
          <a:prstGeom prst="rect">
            <a:avLst/>
          </a:prstGeom>
          <a:noFill/>
          <a:ln/>
        </p:spPr>
        <p:txBody>
          <a:bodyPr wrap="square" lIns="0" tIns="0" rIns="0" bIns="0" rtlCol="0" anchor="t">
            <a:normAutofit fontScale="70000" lnSpcReduction="20000"/>
          </a:bodyPr>
          <a:lstStyle/>
          <a:p>
            <a:pPr marL="0" indent="0" algn="l">
              <a:lnSpc>
                <a:spcPct val="110000"/>
              </a:lnSpc>
              <a:buNone/>
            </a:pPr>
            <a:r>
              <a:rPr lang="en-US" sz="1100" dirty="0">
                <a:solidFill>
                  <a:srgbClr val="3F3D3B"/>
                </a:solidFill>
                <a:latin typeface="Instrument Sans" pitchFamily="34" charset="0"/>
                <a:ea typeface="Instrument Sans" pitchFamily="34" charset="-122"/>
                <a:cs typeface="Instrument Sans" pitchFamily="34" charset="-120"/>
              </a:rPr>
              <a:t>Të gjitha thekët e një luleje përbëjnë andreceimin. Theku ndërtohet prej filamentit dhe anterës. Çdo antere ka dy gjysmëantere me nga dy qese polenore (mikrosporangje), ku krijohen kokërzat e polenit</a:t>
            </a:r>
            <a:r>
              <a:rPr lang="en-US" sz="600" dirty="0">
                <a:solidFill>
                  <a:srgbClr val="3F3D3B"/>
                </a:solidFill>
                <a:latin typeface="Instrument Sans" pitchFamily="34" charset="0"/>
                <a:ea typeface="Instrument Sans" pitchFamily="34" charset="-122"/>
                <a:cs typeface="Instrument Sans" pitchFamily="34" charset="-120"/>
              </a:rPr>
              <a:t>.</a:t>
            </a:r>
            <a:endParaRPr lang="en-US" sz="600" dirty="0"/>
          </a:p>
        </p:txBody>
      </p:sp>
      <p:sp>
        <p:nvSpPr>
          <p:cNvPr id="13" name="Shape 8"/>
          <p:cNvSpPr/>
          <p:nvPr/>
        </p:nvSpPr>
        <p:spPr>
          <a:xfrm>
            <a:off x="3230835" y="3698007"/>
            <a:ext cx="2682329" cy="931962"/>
          </a:xfrm>
          <a:prstGeom prst="roundRect">
            <a:avLst>
              <a:gd name="adj" fmla="val 12978"/>
            </a:avLst>
          </a:prstGeom>
          <a:solidFill>
            <a:srgbClr val="E3BC9A"/>
          </a:solidFill>
          <a:ln/>
        </p:spPr>
      </p:sp>
      <p:sp>
        <p:nvSpPr>
          <p:cNvPr id="14" name="Shape 9"/>
          <p:cNvSpPr/>
          <p:nvPr/>
        </p:nvSpPr>
        <p:spPr>
          <a:xfrm>
            <a:off x="3311426" y="3403774"/>
            <a:ext cx="241846" cy="241846"/>
          </a:xfrm>
          <a:prstGeom prst="roundRect">
            <a:avLst>
              <a:gd name="adj" fmla="val 23628377"/>
            </a:avLst>
          </a:prstGeom>
          <a:solidFill>
            <a:srgbClr val="FFF9F5"/>
          </a:solidFill>
          <a:ln/>
        </p:spPr>
      </p:sp>
      <p:pic>
        <p:nvPicPr>
          <p:cNvPr id="15" name="Image 3" descr="preencoded.png"/>
          <p:cNvPicPr>
            <a:picLocks noChangeAspect="1"/>
          </p:cNvPicPr>
          <p:nvPr/>
        </p:nvPicPr>
        <p:blipFill>
          <a:blip r:embed="rId3">
            <a:extLst>
              <a:ext uri="{96DAC541-7B7A-43D3-8B79-37D633B846F1}">
                <asvg:svgBlip xmlns="" xmlns:asvg="http://schemas.microsoft.com/office/drawing/2016/SVG/main" r:embed="rId7"/>
              </a:ext>
            </a:extLst>
          </a:blip>
          <a:stretch>
            <a:fillRect/>
          </a:stretch>
        </p:blipFill>
        <p:spPr>
          <a:xfrm>
            <a:off x="3377952" y="3470300"/>
            <a:ext cx="108793" cy="108793"/>
          </a:xfrm>
          <a:prstGeom prst="rect">
            <a:avLst/>
          </a:prstGeom>
        </p:spPr>
      </p:pic>
      <p:sp>
        <p:nvSpPr>
          <p:cNvPr id="16" name="Text 10"/>
          <p:cNvSpPr/>
          <p:nvPr/>
        </p:nvSpPr>
        <p:spPr>
          <a:xfrm>
            <a:off x="3377952" y="3840150"/>
            <a:ext cx="1007864" cy="125909"/>
          </a:xfrm>
          <a:prstGeom prst="rect">
            <a:avLst/>
          </a:prstGeom>
          <a:noFill/>
          <a:ln/>
        </p:spPr>
        <p:txBody>
          <a:bodyPr wrap="none" lIns="0" tIns="0" rIns="0" bIns="0" rtlCol="0" anchor="t"/>
          <a:lstStyle/>
          <a:p>
            <a:pPr marL="0" indent="0" algn="l">
              <a:lnSpc>
                <a:spcPct val="104000"/>
              </a:lnSpc>
              <a:buNone/>
            </a:pPr>
            <a:r>
              <a:rPr lang="en-US" sz="800" dirty="0">
                <a:solidFill>
                  <a:srgbClr val="3F3D3B"/>
                </a:solidFill>
                <a:latin typeface="Instrument Sans SemiBold" pitchFamily="34" charset="0"/>
                <a:ea typeface="Instrument Sans SemiBold" pitchFamily="34" charset="-122"/>
                <a:cs typeface="Instrument Sans SemiBold" pitchFamily="34" charset="-120"/>
              </a:rPr>
              <a:t>PISTILI (</a:t>
            </a:r>
            <a:r>
              <a:rPr lang="en-US" sz="1000" dirty="0">
                <a:solidFill>
                  <a:srgbClr val="3F3D3B"/>
                </a:solidFill>
                <a:latin typeface="Instrument Sans SemiBold" pitchFamily="34" charset="0"/>
                <a:ea typeface="Instrument Sans SemiBold" pitchFamily="34" charset="-122"/>
                <a:cs typeface="Instrument Sans SemiBold" pitchFamily="34" charset="-120"/>
              </a:rPr>
              <a:t>GINECEUM</a:t>
            </a:r>
            <a:r>
              <a:rPr lang="en-US" sz="800" dirty="0">
                <a:solidFill>
                  <a:srgbClr val="3F3D3B"/>
                </a:solidFill>
                <a:latin typeface="Instrument Sans SemiBold" pitchFamily="34" charset="0"/>
                <a:ea typeface="Instrument Sans SemiBold" pitchFamily="34" charset="-122"/>
                <a:cs typeface="Instrument Sans SemiBold" pitchFamily="34" charset="-120"/>
              </a:rPr>
              <a:t>)</a:t>
            </a:r>
            <a:endParaRPr lang="en-US" sz="800" dirty="0"/>
          </a:p>
        </p:txBody>
      </p:sp>
      <p:sp>
        <p:nvSpPr>
          <p:cNvPr id="17" name="Text 11"/>
          <p:cNvSpPr/>
          <p:nvPr/>
        </p:nvSpPr>
        <p:spPr>
          <a:xfrm>
            <a:off x="3311425" y="4018446"/>
            <a:ext cx="2433241" cy="484401"/>
          </a:xfrm>
          <a:prstGeom prst="rect">
            <a:avLst/>
          </a:prstGeom>
          <a:noFill/>
          <a:ln/>
        </p:spPr>
        <p:txBody>
          <a:bodyPr wrap="square" lIns="0" tIns="0" rIns="0" bIns="0" rtlCol="0" anchor="t">
            <a:noAutofit/>
          </a:bodyPr>
          <a:lstStyle/>
          <a:p>
            <a:pPr marL="0" indent="0" algn="l">
              <a:lnSpc>
                <a:spcPct val="110000"/>
              </a:lnSpc>
              <a:buNone/>
            </a:pPr>
            <a:r>
              <a:rPr lang="en-US" sz="800" dirty="0">
                <a:solidFill>
                  <a:srgbClr val="3F3D3B"/>
                </a:solidFill>
                <a:latin typeface="Instrument Sans" pitchFamily="34" charset="0"/>
                <a:ea typeface="Instrument Sans" pitchFamily="34" charset="-122"/>
                <a:cs typeface="Instrument Sans" pitchFamily="34" charset="-120"/>
              </a:rPr>
              <a:t>Karpelet formojnë pistilin e lules. Pistili tipik përbëhet prej vezores (ovariumit), shtyllës (stilus) dhe krezës (stigma). Pjesa më e rëndësishme e pistilit është vezorja, ku vendosen ovulat.</a:t>
            </a:r>
            <a:endParaRPr lang="en-US" sz="800" dirty="0"/>
          </a:p>
        </p:txBody>
      </p:sp>
      <p:sp>
        <p:nvSpPr>
          <p:cNvPr id="18" name="Shape 12"/>
          <p:cNvSpPr/>
          <p:nvPr/>
        </p:nvSpPr>
        <p:spPr>
          <a:xfrm>
            <a:off x="5993754" y="3673755"/>
            <a:ext cx="2682329" cy="931962"/>
          </a:xfrm>
          <a:prstGeom prst="roundRect">
            <a:avLst>
              <a:gd name="adj" fmla="val 12978"/>
            </a:avLst>
          </a:prstGeom>
          <a:solidFill>
            <a:srgbClr val="E3BC9A"/>
          </a:solidFill>
          <a:ln/>
        </p:spPr>
      </p:sp>
      <p:sp>
        <p:nvSpPr>
          <p:cNvPr id="19" name="Shape 13"/>
          <p:cNvSpPr/>
          <p:nvPr/>
        </p:nvSpPr>
        <p:spPr>
          <a:xfrm>
            <a:off x="6046143" y="3403774"/>
            <a:ext cx="241846" cy="241846"/>
          </a:xfrm>
          <a:prstGeom prst="roundRect">
            <a:avLst>
              <a:gd name="adj" fmla="val 23628377"/>
            </a:avLst>
          </a:prstGeom>
          <a:solidFill>
            <a:srgbClr val="A0622C"/>
          </a:solidFill>
          <a:ln/>
        </p:spPr>
      </p:sp>
      <p:pic>
        <p:nvPicPr>
          <p:cNvPr id="20" name="Image 4" descr="preencoded.png"/>
          <p:cNvPicPr>
            <a:picLocks noChangeAspect="1"/>
          </p:cNvPicPr>
          <p:nvPr/>
        </p:nvPicPr>
        <p:blipFill>
          <a:blip r:embed="rId3">
            <a:extLst>
              <a:ext uri="{96DAC541-7B7A-43D3-8B79-37D633B846F1}">
                <asvg:svgBlip xmlns="" xmlns:asvg="http://schemas.microsoft.com/office/drawing/2016/SVG/main" r:embed="rId9"/>
              </a:ext>
            </a:extLst>
          </a:blip>
          <a:stretch>
            <a:fillRect/>
          </a:stretch>
        </p:blipFill>
        <p:spPr>
          <a:xfrm>
            <a:off x="6112669" y="3470300"/>
            <a:ext cx="108793" cy="108793"/>
          </a:xfrm>
          <a:prstGeom prst="rect">
            <a:avLst/>
          </a:prstGeom>
        </p:spPr>
      </p:pic>
      <p:sp>
        <p:nvSpPr>
          <p:cNvPr id="21" name="Text 14"/>
          <p:cNvSpPr/>
          <p:nvPr/>
        </p:nvSpPr>
        <p:spPr>
          <a:xfrm>
            <a:off x="6074344" y="3760961"/>
            <a:ext cx="1007864" cy="125909"/>
          </a:xfrm>
          <a:prstGeom prst="rect">
            <a:avLst/>
          </a:prstGeom>
          <a:noFill/>
          <a:ln/>
        </p:spPr>
        <p:txBody>
          <a:bodyPr wrap="none" lIns="0" tIns="0" rIns="0" bIns="0" rtlCol="0" anchor="t"/>
          <a:lstStyle/>
          <a:p>
            <a:pPr marL="0" indent="0" algn="l">
              <a:lnSpc>
                <a:spcPct val="104000"/>
              </a:lnSpc>
              <a:buNone/>
            </a:pPr>
            <a:r>
              <a:rPr lang="en-US" sz="900" dirty="0">
                <a:solidFill>
                  <a:srgbClr val="3F3D3B"/>
                </a:solidFill>
                <a:latin typeface="Instrument Sans SemiBold" pitchFamily="34" charset="0"/>
                <a:ea typeface="Instrument Sans SemiBold" pitchFamily="34" charset="-122"/>
                <a:cs typeface="Instrument Sans SemiBold" pitchFamily="34" charset="-120"/>
              </a:rPr>
              <a:t>PJESËT STERILE</a:t>
            </a:r>
            <a:endParaRPr lang="en-US" sz="900" dirty="0"/>
          </a:p>
        </p:txBody>
      </p:sp>
      <p:sp>
        <p:nvSpPr>
          <p:cNvPr id="22" name="Text 15"/>
          <p:cNvSpPr/>
          <p:nvPr/>
        </p:nvSpPr>
        <p:spPr>
          <a:xfrm>
            <a:off x="6074344" y="4026992"/>
            <a:ext cx="2521148" cy="475855"/>
          </a:xfrm>
          <a:prstGeom prst="rect">
            <a:avLst/>
          </a:prstGeom>
          <a:noFill/>
          <a:ln/>
        </p:spPr>
        <p:txBody>
          <a:bodyPr wrap="square" lIns="0" tIns="0" rIns="0" bIns="0" rtlCol="0" anchor="t">
            <a:noAutofit/>
          </a:bodyPr>
          <a:lstStyle/>
          <a:p>
            <a:pPr marL="0" indent="0" algn="l">
              <a:lnSpc>
                <a:spcPct val="110000"/>
              </a:lnSpc>
              <a:buNone/>
            </a:pPr>
            <a:r>
              <a:rPr lang="en-US" sz="800" dirty="0">
                <a:solidFill>
                  <a:srgbClr val="3F3D3B"/>
                </a:solidFill>
                <a:latin typeface="Instrument Sans" pitchFamily="34" charset="0"/>
                <a:ea typeface="Instrument Sans" pitchFamily="34" charset="-122"/>
                <a:cs typeface="Instrument Sans" pitchFamily="34" charset="-120"/>
              </a:rPr>
              <a:t>Bishti i lules, shtrati, sepalet dhe petalet janë pjesë sterile. Ato mbrojnë dhe mbështesin organet pjellore, si dhe tërheqin ndërmjetëset e fekondimit.</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06003" y="294732"/>
            <a:ext cx="5215384" cy="251966"/>
          </a:xfrm>
          <a:prstGeom prst="rect">
            <a:avLst/>
          </a:prstGeom>
          <a:noFill/>
          <a:ln/>
        </p:spPr>
        <p:txBody>
          <a:bodyPr wrap="none" lIns="0" tIns="0" rIns="0" bIns="0" rtlCol="0" anchor="t"/>
          <a:lstStyle/>
          <a:p>
            <a:pPr marL="0" indent="0" algn="l">
              <a:lnSpc>
                <a:spcPct val="104000"/>
              </a:lnSpc>
              <a:buNone/>
            </a:pPr>
            <a:r>
              <a:rPr lang="en-US" sz="1550" dirty="0">
                <a:solidFill>
                  <a:srgbClr val="A0622C"/>
                </a:solidFill>
                <a:latin typeface="Instrument Sans SemiBold" pitchFamily="34" charset="0"/>
                <a:ea typeface="Instrument Sans SemiBold" pitchFamily="34" charset="-122"/>
                <a:cs typeface="Instrument Sans SemiBold" pitchFamily="34" charset="-120"/>
              </a:rPr>
              <a:t>MIKROSPOROGJENEZA TE BIMËT FARËVESHURA</a:t>
            </a:r>
            <a:endParaRPr lang="en-US" sz="1550" dirty="0"/>
          </a:p>
        </p:txBody>
      </p:sp>
      <p:sp>
        <p:nvSpPr>
          <p:cNvPr id="3" name="Text 1"/>
          <p:cNvSpPr/>
          <p:nvPr/>
        </p:nvSpPr>
        <p:spPr>
          <a:xfrm>
            <a:off x="412848" y="703014"/>
            <a:ext cx="4394969" cy="669669"/>
          </a:xfrm>
          <a:prstGeom prst="rect">
            <a:avLst/>
          </a:prstGeom>
          <a:noFill/>
          <a:ln/>
        </p:spPr>
        <p:txBody>
          <a:bodyPr wrap="square" lIns="0" tIns="0" rIns="0" bIns="0" rtlCol="0" anchor="t">
            <a:noAutofit/>
          </a:bodyPr>
          <a:lstStyle/>
          <a:p>
            <a:pPr marL="0" indent="0" algn="l">
              <a:lnSpc>
                <a:spcPct val="110000"/>
              </a:lnSpc>
              <a:buNone/>
            </a:pPr>
            <a:r>
              <a:rPr lang="en-US" sz="1000" dirty="0">
                <a:solidFill>
                  <a:srgbClr val="3F3D3B"/>
                </a:solidFill>
                <a:latin typeface="Instrument Sans" pitchFamily="34" charset="0"/>
                <a:ea typeface="Instrument Sans" pitchFamily="34" charset="-122"/>
                <a:cs typeface="Instrument Sans" pitchFamily="34" charset="-120"/>
              </a:rPr>
              <a:t>Mikrosporogjeneza është procesi i zhvillimit të gametofitit mashkullor. Organ seksual mashkullor janë thekët (andreceum), ku krijohet indi sporogjen — arkeospori. Qelizat amë të polenit (diploid 2n) i nënshtrohen mejozës dhe japin katër mikraspore haploide.</a:t>
            </a:r>
            <a:endParaRPr lang="en-US" sz="1000" dirty="0"/>
          </a:p>
        </p:txBody>
      </p:sp>
      <p:sp>
        <p:nvSpPr>
          <p:cNvPr id="4" name="Shape 2"/>
          <p:cNvSpPr/>
          <p:nvPr/>
        </p:nvSpPr>
        <p:spPr>
          <a:xfrm>
            <a:off x="490052" y="1593231"/>
            <a:ext cx="4394969" cy="571351"/>
          </a:xfrm>
          <a:prstGeom prst="roundRect">
            <a:avLst>
              <a:gd name="adj" fmla="val 21168"/>
            </a:avLst>
          </a:prstGeom>
          <a:solidFill>
            <a:srgbClr val="FFF9F5"/>
          </a:solidFill>
          <a:ln w="9525">
            <a:solidFill>
              <a:srgbClr val="E3BC9A"/>
            </a:solidFill>
            <a:prstDash val="solid"/>
          </a:ln>
        </p:spPr>
      </p:sp>
      <p:sp>
        <p:nvSpPr>
          <p:cNvPr id="5" name="Shape 3"/>
          <p:cNvSpPr/>
          <p:nvPr/>
        </p:nvSpPr>
        <p:spPr>
          <a:xfrm>
            <a:off x="484704" y="1623937"/>
            <a:ext cx="322511" cy="552301"/>
          </a:xfrm>
          <a:prstGeom prst="roundRect">
            <a:avLst>
              <a:gd name="adj" fmla="val 33957"/>
            </a:avLst>
          </a:prstGeom>
          <a:solidFill>
            <a:srgbClr val="E3BC9A"/>
          </a:solidFill>
          <a:ln/>
        </p:spPr>
      </p:sp>
      <p:pic>
        <p:nvPicPr>
          <p:cNvPr id="6" name="Image 0" descr="preencoded.png"/>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598681" y="1827834"/>
            <a:ext cx="120923" cy="120923"/>
          </a:xfrm>
          <a:prstGeom prst="rect">
            <a:avLst/>
          </a:prstGeom>
        </p:spPr>
      </p:pic>
      <p:sp>
        <p:nvSpPr>
          <p:cNvPr id="7" name="Text 4"/>
          <p:cNvSpPr/>
          <p:nvPr/>
        </p:nvSpPr>
        <p:spPr>
          <a:xfrm>
            <a:off x="880542" y="1656075"/>
            <a:ext cx="1007864" cy="125909"/>
          </a:xfrm>
          <a:prstGeom prst="rect">
            <a:avLst/>
          </a:prstGeom>
          <a:noFill/>
          <a:ln/>
        </p:spPr>
        <p:txBody>
          <a:bodyPr wrap="none" lIns="0" tIns="0" rIns="0" bIns="0" rtlCol="0" anchor="t"/>
          <a:lstStyle/>
          <a:p>
            <a:pPr marL="0" indent="0" algn="l">
              <a:lnSpc>
                <a:spcPct val="104000"/>
              </a:lnSpc>
              <a:buNone/>
            </a:pPr>
            <a:r>
              <a:rPr lang="en-US" sz="900" dirty="0">
                <a:solidFill>
                  <a:srgbClr val="3F3D3B"/>
                </a:solidFill>
                <a:latin typeface="Instrument Sans SemiBold" pitchFamily="34" charset="0"/>
                <a:ea typeface="Instrument Sans SemiBold" pitchFamily="34" charset="-122"/>
                <a:cs typeface="Instrument Sans SemiBold" pitchFamily="34" charset="-120"/>
              </a:rPr>
              <a:t>MEJOZA I DHE II</a:t>
            </a:r>
            <a:endParaRPr lang="en-US" sz="900" dirty="0"/>
          </a:p>
        </p:txBody>
      </p:sp>
      <p:sp>
        <p:nvSpPr>
          <p:cNvPr id="8" name="Text 5"/>
          <p:cNvSpPr/>
          <p:nvPr/>
        </p:nvSpPr>
        <p:spPr>
          <a:xfrm>
            <a:off x="820360" y="1851645"/>
            <a:ext cx="3920430" cy="212824"/>
          </a:xfrm>
          <a:prstGeom prst="rect">
            <a:avLst/>
          </a:prstGeom>
          <a:noFill/>
          <a:ln/>
        </p:spPr>
        <p:txBody>
          <a:bodyPr wrap="square" lIns="0" tIns="0" rIns="0" bIns="0" rtlCol="0" anchor="t">
            <a:noAutofit/>
          </a:bodyPr>
          <a:lstStyle/>
          <a:p>
            <a:pPr marL="0" indent="0" algn="l">
              <a:lnSpc>
                <a:spcPct val="110000"/>
              </a:lnSpc>
              <a:buNone/>
            </a:pPr>
            <a:r>
              <a:rPr lang="en-US" sz="900" dirty="0">
                <a:solidFill>
                  <a:srgbClr val="3F3D3B"/>
                </a:solidFill>
                <a:latin typeface="Instrument Sans" pitchFamily="34" charset="0"/>
                <a:ea typeface="Instrument Sans" pitchFamily="34" charset="-122"/>
                <a:cs typeface="Instrument Sans" pitchFamily="34" charset="-120"/>
              </a:rPr>
              <a:t>Qelizat amë të polenit (2n) i nënshtrohen Mejozës I dhe II, duke krijuar katër qeliza me numër haploid (n) të kromozomeve — tetrada e mikroporeve</a:t>
            </a:r>
            <a:endParaRPr lang="en-US" sz="900" dirty="0"/>
          </a:p>
        </p:txBody>
      </p:sp>
      <p:sp>
        <p:nvSpPr>
          <p:cNvPr id="9" name="Shape 6"/>
          <p:cNvSpPr/>
          <p:nvPr/>
        </p:nvSpPr>
        <p:spPr>
          <a:xfrm>
            <a:off x="490053" y="2543250"/>
            <a:ext cx="4394969" cy="647471"/>
          </a:xfrm>
          <a:prstGeom prst="roundRect">
            <a:avLst>
              <a:gd name="adj" fmla="val 21168"/>
            </a:avLst>
          </a:prstGeom>
          <a:solidFill>
            <a:srgbClr val="FFF9F5"/>
          </a:solidFill>
          <a:ln w="9525">
            <a:solidFill>
              <a:srgbClr val="3F3D3B"/>
            </a:solidFill>
            <a:prstDash val="solid"/>
          </a:ln>
        </p:spPr>
      </p:sp>
      <p:sp>
        <p:nvSpPr>
          <p:cNvPr id="10" name="Shape 7"/>
          <p:cNvSpPr/>
          <p:nvPr/>
        </p:nvSpPr>
        <p:spPr>
          <a:xfrm>
            <a:off x="490053" y="2607230"/>
            <a:ext cx="322511" cy="552301"/>
          </a:xfrm>
          <a:prstGeom prst="roundRect">
            <a:avLst>
              <a:gd name="adj" fmla="val 33957"/>
            </a:avLst>
          </a:prstGeom>
          <a:solidFill>
            <a:srgbClr val="3F3D3B"/>
          </a:solidFill>
          <a:ln/>
        </p:spPr>
      </p:sp>
      <p:pic>
        <p:nvPicPr>
          <p:cNvPr id="11" name="Image 1" descr="preencoded.png"/>
          <p:cNvPicPr>
            <a:picLocks noChangeAspect="1"/>
          </p:cNvPicPr>
          <p:nvPr/>
        </p:nvPicPr>
        <p:blipFill>
          <a:blip r:embed="rId3">
            <a:extLst>
              <a:ext uri="{96DAC541-7B7A-43D3-8B79-37D633B846F1}">
                <asvg:svgBlip xmlns="" xmlns:asvg="http://schemas.microsoft.com/office/drawing/2016/SVG/main" r:embed="rId5"/>
              </a:ext>
            </a:extLst>
          </a:blip>
          <a:stretch>
            <a:fillRect/>
          </a:stretch>
        </p:blipFill>
        <p:spPr>
          <a:xfrm>
            <a:off x="582226" y="2737024"/>
            <a:ext cx="120923" cy="120923"/>
          </a:xfrm>
          <a:prstGeom prst="rect">
            <a:avLst/>
          </a:prstGeom>
        </p:spPr>
      </p:pic>
      <p:sp>
        <p:nvSpPr>
          <p:cNvPr id="12" name="Text 8"/>
          <p:cNvSpPr/>
          <p:nvPr/>
        </p:nvSpPr>
        <p:spPr>
          <a:xfrm>
            <a:off x="880542" y="2601132"/>
            <a:ext cx="1609204" cy="125909"/>
          </a:xfrm>
          <a:prstGeom prst="rect">
            <a:avLst/>
          </a:prstGeom>
          <a:noFill/>
          <a:ln/>
        </p:spPr>
        <p:txBody>
          <a:bodyPr wrap="none" lIns="0" tIns="0" rIns="0" bIns="0" rtlCol="0" anchor="t"/>
          <a:lstStyle/>
          <a:p>
            <a:pPr marL="0" indent="0" algn="l">
              <a:lnSpc>
                <a:spcPct val="104000"/>
              </a:lnSpc>
              <a:buNone/>
            </a:pPr>
            <a:r>
              <a:rPr lang="en-US" sz="750" dirty="0">
                <a:solidFill>
                  <a:srgbClr val="3F3D3B"/>
                </a:solidFill>
                <a:latin typeface="Instrument Sans SemiBold" pitchFamily="34" charset="0"/>
                <a:ea typeface="Instrument Sans SemiBold" pitchFamily="34" charset="-122"/>
                <a:cs typeface="Instrument Sans SemiBold" pitchFamily="34" charset="-120"/>
              </a:rPr>
              <a:t>NDARJA MITOTIKE </a:t>
            </a:r>
            <a:r>
              <a:rPr lang="en-US" sz="1000" dirty="0">
                <a:solidFill>
                  <a:srgbClr val="3F3D3B"/>
                </a:solidFill>
                <a:latin typeface="Instrument Sans SemiBold" pitchFamily="34" charset="0"/>
                <a:ea typeface="Instrument Sans SemiBold" pitchFamily="34" charset="-122"/>
                <a:cs typeface="Instrument Sans SemiBold" pitchFamily="34" charset="-120"/>
              </a:rPr>
              <a:t>PASMEJOTIKE</a:t>
            </a:r>
            <a:endParaRPr lang="en-US" sz="750" dirty="0"/>
          </a:p>
        </p:txBody>
      </p:sp>
      <p:sp>
        <p:nvSpPr>
          <p:cNvPr id="13" name="Text 9"/>
          <p:cNvSpPr/>
          <p:nvPr/>
        </p:nvSpPr>
        <p:spPr>
          <a:xfrm>
            <a:off x="828155" y="2751535"/>
            <a:ext cx="3920430" cy="212824"/>
          </a:xfrm>
          <a:prstGeom prst="rect">
            <a:avLst/>
          </a:prstGeom>
          <a:noFill/>
          <a:ln/>
        </p:spPr>
        <p:txBody>
          <a:bodyPr wrap="square" lIns="0" tIns="0" rIns="0" bIns="0" rtlCol="0" anchor="t">
            <a:noAutofit/>
          </a:bodyPr>
          <a:lstStyle/>
          <a:p>
            <a:pPr marL="0" indent="0" algn="l">
              <a:lnSpc>
                <a:spcPct val="110000"/>
              </a:lnSpc>
              <a:buNone/>
            </a:pPr>
            <a:r>
              <a:rPr lang="en-US" sz="800" dirty="0">
                <a:solidFill>
                  <a:srgbClr val="3F3D3B"/>
                </a:solidFill>
                <a:latin typeface="Instrument Sans" pitchFamily="34" charset="0"/>
                <a:ea typeface="Instrument Sans" pitchFamily="34" charset="-122"/>
                <a:cs typeface="Instrument Sans" pitchFamily="34" charset="-120"/>
              </a:rPr>
              <a:t>Secila mikraspore i nënshtrohet ndarjes mitotike dhe krijohen dy qeliza: një vegjetative (e madhe) dhe një gjenerative (e vogël), të mbajtura nga membrana e jashtme e përbashkët</a:t>
            </a:r>
            <a:endParaRPr lang="en-US" sz="800" dirty="0"/>
          </a:p>
        </p:txBody>
      </p:sp>
      <p:sp>
        <p:nvSpPr>
          <p:cNvPr id="14" name="Shape 10"/>
          <p:cNvSpPr/>
          <p:nvPr/>
        </p:nvSpPr>
        <p:spPr>
          <a:xfrm>
            <a:off x="406003" y="3487861"/>
            <a:ext cx="4394969" cy="770032"/>
          </a:xfrm>
          <a:prstGeom prst="roundRect">
            <a:avLst>
              <a:gd name="adj" fmla="val 21168"/>
            </a:avLst>
          </a:prstGeom>
          <a:solidFill>
            <a:srgbClr val="FFF9F5"/>
          </a:solidFill>
          <a:ln w="9525">
            <a:solidFill>
              <a:srgbClr val="A0622C"/>
            </a:solidFill>
            <a:prstDash val="solid"/>
          </a:ln>
        </p:spPr>
      </p:sp>
      <p:sp>
        <p:nvSpPr>
          <p:cNvPr id="15" name="Shape 11"/>
          <p:cNvSpPr/>
          <p:nvPr/>
        </p:nvSpPr>
        <p:spPr>
          <a:xfrm>
            <a:off x="412848" y="3627070"/>
            <a:ext cx="322511" cy="552301"/>
          </a:xfrm>
          <a:prstGeom prst="roundRect">
            <a:avLst>
              <a:gd name="adj" fmla="val 33957"/>
            </a:avLst>
          </a:prstGeom>
          <a:solidFill>
            <a:srgbClr val="A0622C"/>
          </a:solidFill>
          <a:ln/>
        </p:spPr>
      </p:sp>
      <p:pic>
        <p:nvPicPr>
          <p:cNvPr id="16" name="Image 2" descr="preencoded.png"/>
          <p:cNvPicPr>
            <a:picLocks noChangeAspect="1"/>
          </p:cNvPicPr>
          <p:nvPr/>
        </p:nvPicPr>
        <p:blipFill>
          <a:blip r:embed="rId3">
            <a:extLst>
              <a:ext uri="{96DAC541-7B7A-43D3-8B79-37D633B846F1}">
                <asvg:svgBlip xmlns="" xmlns:asvg="http://schemas.microsoft.com/office/drawing/2016/SVG/main" r:embed="rId6"/>
              </a:ext>
            </a:extLst>
          </a:blip>
          <a:stretch>
            <a:fillRect/>
          </a:stretch>
        </p:blipFill>
        <p:spPr>
          <a:xfrm>
            <a:off x="498765" y="3812415"/>
            <a:ext cx="120923" cy="120923"/>
          </a:xfrm>
          <a:prstGeom prst="rect">
            <a:avLst/>
          </a:prstGeom>
        </p:spPr>
      </p:pic>
      <p:sp>
        <p:nvSpPr>
          <p:cNvPr id="17" name="Text 12"/>
          <p:cNvSpPr/>
          <p:nvPr/>
        </p:nvSpPr>
        <p:spPr>
          <a:xfrm>
            <a:off x="828155" y="3586584"/>
            <a:ext cx="1084585" cy="125909"/>
          </a:xfrm>
          <a:prstGeom prst="rect">
            <a:avLst/>
          </a:prstGeom>
          <a:noFill/>
          <a:ln/>
        </p:spPr>
        <p:txBody>
          <a:bodyPr wrap="none" lIns="0" tIns="0" rIns="0" bIns="0" rtlCol="0" anchor="t"/>
          <a:lstStyle/>
          <a:p>
            <a:pPr marL="0" indent="0" algn="l">
              <a:lnSpc>
                <a:spcPct val="104000"/>
              </a:lnSpc>
              <a:buNone/>
            </a:pPr>
            <a:r>
              <a:rPr lang="en-US" sz="750" dirty="0">
                <a:solidFill>
                  <a:srgbClr val="3F3D3B"/>
                </a:solidFill>
                <a:latin typeface="Instrument Sans SemiBold" pitchFamily="34" charset="0"/>
                <a:ea typeface="Instrument Sans SemiBold" pitchFamily="34" charset="-122"/>
                <a:cs typeface="Instrument Sans SemiBold" pitchFamily="34" charset="-120"/>
              </a:rPr>
              <a:t>KOKËRRZA E </a:t>
            </a:r>
            <a:r>
              <a:rPr lang="en-US" sz="900" dirty="0">
                <a:solidFill>
                  <a:srgbClr val="3F3D3B"/>
                </a:solidFill>
                <a:latin typeface="Instrument Sans SemiBold" pitchFamily="34" charset="0"/>
                <a:ea typeface="Instrument Sans SemiBold" pitchFamily="34" charset="-122"/>
                <a:cs typeface="Instrument Sans SemiBold" pitchFamily="34" charset="-120"/>
              </a:rPr>
              <a:t>POLENIT</a:t>
            </a:r>
            <a:endParaRPr lang="en-US" sz="750" dirty="0"/>
          </a:p>
        </p:txBody>
      </p:sp>
      <p:sp>
        <p:nvSpPr>
          <p:cNvPr id="18" name="Text 13"/>
          <p:cNvSpPr/>
          <p:nvPr/>
        </p:nvSpPr>
        <p:spPr>
          <a:xfrm>
            <a:off x="727323" y="3796809"/>
            <a:ext cx="3920430" cy="212824"/>
          </a:xfrm>
          <a:prstGeom prst="rect">
            <a:avLst/>
          </a:prstGeom>
          <a:noFill/>
          <a:ln/>
        </p:spPr>
        <p:txBody>
          <a:bodyPr wrap="square" lIns="0" tIns="0" rIns="0" bIns="0" rtlCol="0" anchor="t">
            <a:noAutofit/>
          </a:bodyPr>
          <a:lstStyle/>
          <a:p>
            <a:pPr marL="0" indent="0" algn="l">
              <a:lnSpc>
                <a:spcPct val="110000"/>
              </a:lnSpc>
              <a:buNone/>
            </a:pPr>
            <a:r>
              <a:rPr lang="en-US" sz="800" dirty="0">
                <a:solidFill>
                  <a:srgbClr val="3F3D3B"/>
                </a:solidFill>
                <a:latin typeface="Instrument Sans" pitchFamily="34" charset="0"/>
                <a:ea typeface="Instrument Sans" pitchFamily="34" charset="-122"/>
                <a:cs typeface="Instrument Sans" pitchFamily="34" charset="-120"/>
              </a:rPr>
              <a:t>Qeliza gjenerative ndahet dhe krijon dy qeliza gjenerative. Kështu formohet kokërrza e polenit me një qelizë vegjetative dhe dy qeliza gjenerative, me formë të jashtme karakteristike sipas llojit</a:t>
            </a:r>
            <a:endParaRPr lang="en-US" sz="800" dirty="0"/>
          </a:p>
        </p:txBody>
      </p:sp>
      <p:sp>
        <p:nvSpPr>
          <p:cNvPr id="19" name="Shape 14"/>
          <p:cNvSpPr/>
          <p:nvPr/>
        </p:nvSpPr>
        <p:spPr>
          <a:xfrm>
            <a:off x="5034409" y="932483"/>
            <a:ext cx="3676204" cy="3609082"/>
          </a:xfrm>
          <a:prstGeom prst="roundRect">
            <a:avLst>
              <a:gd name="adj" fmla="val 5362"/>
            </a:avLst>
          </a:prstGeom>
          <a:solidFill>
            <a:srgbClr val="E3BC9A"/>
          </a:solidFill>
          <a:ln/>
        </p:spPr>
      </p:sp>
      <p:sp>
        <p:nvSpPr>
          <p:cNvPr id="20" name="Shape 15"/>
          <p:cNvSpPr/>
          <p:nvPr/>
        </p:nvSpPr>
        <p:spPr>
          <a:xfrm>
            <a:off x="5114999" y="991419"/>
            <a:ext cx="3515023" cy="550962"/>
          </a:xfrm>
          <a:prstGeom prst="roundRect">
            <a:avLst>
              <a:gd name="adj" fmla="val 21952"/>
            </a:avLst>
          </a:prstGeom>
          <a:solidFill>
            <a:srgbClr val="EED7C3"/>
          </a:solidFill>
          <a:ln/>
        </p:spPr>
      </p:sp>
      <p:pic>
        <p:nvPicPr>
          <p:cNvPr id="21" name="Image 3" descr="preencoded.png"/>
          <p:cNvPicPr>
            <a:picLocks noChangeAspect="1"/>
          </p:cNvPicPr>
          <p:nvPr/>
        </p:nvPicPr>
        <p:blipFill>
          <a:blip r:embed="rId7"/>
          <a:stretch>
            <a:fillRect/>
          </a:stretch>
        </p:blipFill>
        <p:spPr>
          <a:xfrm>
            <a:off x="5195590" y="1075730"/>
            <a:ext cx="125983" cy="100757"/>
          </a:xfrm>
          <a:prstGeom prst="rect">
            <a:avLst/>
          </a:prstGeom>
        </p:spPr>
      </p:pic>
      <p:sp>
        <p:nvSpPr>
          <p:cNvPr id="22" name="Text 16"/>
          <p:cNvSpPr/>
          <p:nvPr/>
        </p:nvSpPr>
        <p:spPr>
          <a:xfrm>
            <a:off x="5402163" y="1063898"/>
            <a:ext cx="1806997" cy="125909"/>
          </a:xfrm>
          <a:prstGeom prst="rect">
            <a:avLst/>
          </a:prstGeom>
          <a:noFill/>
          <a:ln/>
        </p:spPr>
        <p:txBody>
          <a:bodyPr wrap="none" lIns="0" tIns="0" rIns="0" bIns="0" rtlCol="0" anchor="t"/>
          <a:lstStyle/>
          <a:p>
            <a:pPr marL="0" indent="0" algn="l">
              <a:lnSpc>
                <a:spcPct val="104000"/>
              </a:lnSpc>
              <a:buNone/>
            </a:pPr>
            <a:r>
              <a:rPr lang="en-US" sz="750" dirty="0">
                <a:solidFill>
                  <a:srgbClr val="000000"/>
                </a:solidFill>
                <a:latin typeface="Instrument Sans SemiBold" pitchFamily="34" charset="0"/>
                <a:ea typeface="Instrument Sans SemiBold" pitchFamily="34" charset="-122"/>
                <a:cs typeface="Instrument Sans SemiBold" pitchFamily="34" charset="-120"/>
              </a:rPr>
              <a:t>FIG. </a:t>
            </a:r>
            <a:r>
              <a:rPr lang="en-US" sz="1000" dirty="0">
                <a:solidFill>
                  <a:srgbClr val="000000"/>
                </a:solidFill>
                <a:latin typeface="Instrument Sans SemiBold" pitchFamily="34" charset="0"/>
                <a:ea typeface="Instrument Sans SemiBold" pitchFamily="34" charset="-122"/>
                <a:cs typeface="Instrument Sans SemiBold" pitchFamily="34" charset="-120"/>
              </a:rPr>
              <a:t>MIKROSPOROGJENEZA</a:t>
            </a:r>
            <a:endParaRPr lang="en-US" sz="750" dirty="0"/>
          </a:p>
        </p:txBody>
      </p:sp>
      <p:sp>
        <p:nvSpPr>
          <p:cNvPr id="23" name="Text 17"/>
          <p:cNvSpPr/>
          <p:nvPr/>
        </p:nvSpPr>
        <p:spPr>
          <a:xfrm>
            <a:off x="5402163" y="1242194"/>
            <a:ext cx="3147268" cy="212824"/>
          </a:xfrm>
          <a:prstGeom prst="rect">
            <a:avLst/>
          </a:prstGeom>
          <a:noFill/>
          <a:ln/>
        </p:spPr>
        <p:txBody>
          <a:bodyPr wrap="square" lIns="0" tIns="0" rIns="0" bIns="0" rtlCol="0" anchor="t">
            <a:noAutofit/>
          </a:bodyPr>
          <a:lstStyle/>
          <a:p>
            <a:pPr marL="0" indent="0" algn="l">
              <a:lnSpc>
                <a:spcPct val="110000"/>
              </a:lnSpc>
              <a:buNone/>
            </a:pPr>
            <a:r>
              <a:rPr lang="en-US" sz="800" dirty="0">
                <a:solidFill>
                  <a:srgbClr val="000000"/>
                </a:solidFill>
                <a:latin typeface="Instrument Sans" pitchFamily="34" charset="0"/>
                <a:ea typeface="Instrument Sans" pitchFamily="34" charset="-122"/>
                <a:cs typeface="Instrument Sans" pitchFamily="34" charset="-120"/>
              </a:rPr>
              <a:t>Procesi fillon nga qeset polenore të anterës dhe përfundon me formimin e kokërrzes së polenit të pjekur me tre qeliza.</a:t>
            </a:r>
            <a:endParaRPr lang="en-US" sz="800" dirty="0"/>
          </a:p>
        </p:txBody>
      </p:sp>
      <p:pic>
        <p:nvPicPr>
          <p:cNvPr id="24" name="Image 4" descr="preencoded.png"/>
          <p:cNvPicPr>
            <a:picLocks noChangeAspect="1"/>
          </p:cNvPicPr>
          <p:nvPr/>
        </p:nvPicPr>
        <p:blipFill>
          <a:blip r:embed="rId8"/>
          <a:stretch>
            <a:fillRect/>
          </a:stretch>
        </p:blipFill>
        <p:spPr>
          <a:xfrm>
            <a:off x="5114999" y="1601316"/>
            <a:ext cx="1771650" cy="288131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771900" cy="5143500"/>
          </a:xfrm>
          <a:prstGeom prst="rect">
            <a:avLst/>
          </a:prstGeom>
        </p:spPr>
      </p:pic>
      <p:sp>
        <p:nvSpPr>
          <p:cNvPr id="3" name="Text 0"/>
          <p:cNvSpPr/>
          <p:nvPr/>
        </p:nvSpPr>
        <p:spPr>
          <a:xfrm>
            <a:off x="3925119" y="521196"/>
            <a:ext cx="4722763" cy="988293"/>
          </a:xfrm>
          <a:prstGeom prst="rect">
            <a:avLst/>
          </a:prstGeom>
          <a:noFill/>
          <a:ln/>
        </p:spPr>
        <p:txBody>
          <a:bodyPr wrap="square" lIns="0" tIns="0" rIns="0" bIns="0" rtlCol="0" anchor="t">
            <a:normAutofit/>
          </a:bodyPr>
          <a:lstStyle/>
          <a:p>
            <a:pPr marL="0" indent="0" algn="l">
              <a:lnSpc>
                <a:spcPct val="104000"/>
              </a:lnSpc>
              <a:buNone/>
            </a:pPr>
            <a:r>
              <a:rPr lang="en-US" sz="2050" dirty="0">
                <a:solidFill>
                  <a:srgbClr val="A0622C"/>
                </a:solidFill>
                <a:latin typeface="Instrument Sans SemiBold" pitchFamily="34" charset="0"/>
                <a:ea typeface="Instrument Sans SemiBold" pitchFamily="34" charset="-122"/>
                <a:cs typeface="Instrument Sans SemiBold" pitchFamily="34" charset="-120"/>
              </a:rPr>
              <a:t>MAKROSPOROGJENEZA (MEGASPOROGJENEZA) TE BIMËT FARËVESHURA</a:t>
            </a:r>
            <a:endParaRPr lang="en-US" sz="2050" dirty="0"/>
          </a:p>
        </p:txBody>
      </p:sp>
      <p:sp>
        <p:nvSpPr>
          <p:cNvPr id="4" name="Text 1"/>
          <p:cNvSpPr/>
          <p:nvPr/>
        </p:nvSpPr>
        <p:spPr>
          <a:xfrm>
            <a:off x="3925119" y="1643881"/>
            <a:ext cx="4722763" cy="468139"/>
          </a:xfrm>
          <a:prstGeom prst="rect">
            <a:avLst/>
          </a:prstGeom>
          <a:noFill/>
          <a:ln/>
        </p:spPr>
        <p:txBody>
          <a:bodyPr wrap="square" lIns="0" tIns="0" rIns="0" bIns="0" rtlCol="0" anchor="t">
            <a:normAutofit/>
          </a:bodyPr>
          <a:lstStyle/>
          <a:p>
            <a:pPr marL="0" indent="0" algn="l">
              <a:lnSpc>
                <a:spcPct val="123000"/>
              </a:lnSpc>
              <a:buNone/>
            </a:pPr>
            <a:r>
              <a:rPr lang="en-US" sz="800" dirty="0">
                <a:solidFill>
                  <a:srgbClr val="3F3D3B"/>
                </a:solidFill>
                <a:latin typeface="Instrument Sans" pitchFamily="34" charset="0"/>
                <a:ea typeface="Instrument Sans" pitchFamily="34" charset="-122"/>
                <a:cs typeface="Instrument Sans" pitchFamily="34" charset="-120"/>
              </a:rPr>
              <a:t>Makrosporogjeneza është procesi i krijimit të gametofitit femëror te bimët. Te bimët me lule, organ seksual femëror është pistili (gineceum). Në brendinë e vezorit ndodhet qeliza amë e qesës embrionale, e cila i nënshtrohet mejozës dhe krijon 4 makrospore haploide.</a:t>
            </a:r>
            <a:endParaRPr lang="en-US" sz="800" dirty="0"/>
          </a:p>
        </p:txBody>
      </p:sp>
      <p:sp>
        <p:nvSpPr>
          <p:cNvPr id="5" name="Shape 2"/>
          <p:cNvSpPr/>
          <p:nvPr/>
        </p:nvSpPr>
        <p:spPr>
          <a:xfrm>
            <a:off x="3925119" y="2212777"/>
            <a:ext cx="2316584" cy="1393999"/>
          </a:xfrm>
          <a:prstGeom prst="roundRect">
            <a:avLst>
              <a:gd name="adj" fmla="val 11346"/>
            </a:avLst>
          </a:prstGeom>
          <a:solidFill>
            <a:srgbClr val="FFF9F5"/>
          </a:solidFill>
          <a:ln w="14288">
            <a:solidFill>
              <a:srgbClr val="E3BC9A"/>
            </a:solidFill>
            <a:prstDash val="solid"/>
          </a:ln>
        </p:spPr>
      </p:sp>
      <p:sp>
        <p:nvSpPr>
          <p:cNvPr id="6" name="Text 3"/>
          <p:cNvSpPr/>
          <p:nvPr/>
        </p:nvSpPr>
        <p:spPr>
          <a:xfrm>
            <a:off x="4044776" y="2332434"/>
            <a:ext cx="1776412" cy="164678"/>
          </a:xfrm>
          <a:prstGeom prst="rect">
            <a:avLst/>
          </a:prstGeom>
          <a:noFill/>
          <a:ln/>
        </p:spPr>
        <p:txBody>
          <a:bodyPr wrap="none" lIns="0" tIns="0" rIns="0" bIns="0" rtlCol="0" anchor="t"/>
          <a:lstStyle/>
          <a:p>
            <a:pPr marL="0" indent="0" algn="l">
              <a:lnSpc>
                <a:spcPct val="104000"/>
              </a:lnSpc>
              <a:buNone/>
            </a:pPr>
            <a:r>
              <a:rPr lang="en-US" sz="1000" dirty="0">
                <a:solidFill>
                  <a:srgbClr val="3F3D3B"/>
                </a:solidFill>
                <a:latin typeface="Instrument Sans SemiBold" pitchFamily="34" charset="0"/>
                <a:ea typeface="Instrument Sans SemiBold" pitchFamily="34" charset="-122"/>
                <a:cs typeface="Instrument Sans SemiBold" pitchFamily="34" charset="-120"/>
              </a:rPr>
              <a:t>FORMIMI I MAKROSPOREVE</a:t>
            </a:r>
            <a:endParaRPr lang="en-US" sz="1000" dirty="0"/>
          </a:p>
        </p:txBody>
      </p:sp>
      <p:sp>
        <p:nvSpPr>
          <p:cNvPr id="7" name="Text 4"/>
          <p:cNvSpPr/>
          <p:nvPr/>
        </p:nvSpPr>
        <p:spPr>
          <a:xfrm>
            <a:off x="4044776" y="2550840"/>
            <a:ext cx="2077269" cy="936278"/>
          </a:xfrm>
          <a:prstGeom prst="rect">
            <a:avLst/>
          </a:prstGeom>
          <a:noFill/>
          <a:ln/>
        </p:spPr>
        <p:txBody>
          <a:bodyPr wrap="square" lIns="0" tIns="0" rIns="0" bIns="0" rtlCol="0" anchor="t">
            <a:normAutofit/>
          </a:bodyPr>
          <a:lstStyle/>
          <a:p>
            <a:pPr marL="0" indent="0" algn="l">
              <a:lnSpc>
                <a:spcPct val="123000"/>
              </a:lnSpc>
              <a:buNone/>
            </a:pPr>
            <a:r>
              <a:rPr lang="en-US" sz="800" dirty="0">
                <a:solidFill>
                  <a:srgbClr val="3F3D3B"/>
                </a:solidFill>
                <a:latin typeface="Instrument Sans" pitchFamily="34" charset="0"/>
                <a:ea typeface="Instrument Sans" pitchFamily="34" charset="-122"/>
                <a:cs typeface="Instrument Sans" pitchFamily="34" charset="-120"/>
              </a:rPr>
              <a:t>Qeliza amë e makrosporeve (megasporeve) rritet dhe i nënshtrohet ndarjes mejotike I dhe II, duke krijuar 4 qeliza (makrospore) me numër haploid të kromozomeve. Këto qeliza ende nuk janë të afta për fekondim.</a:t>
            </a:r>
            <a:endParaRPr lang="en-US" sz="800" dirty="0"/>
          </a:p>
        </p:txBody>
      </p:sp>
      <p:sp>
        <p:nvSpPr>
          <p:cNvPr id="8" name="Shape 5"/>
          <p:cNvSpPr/>
          <p:nvPr/>
        </p:nvSpPr>
        <p:spPr>
          <a:xfrm>
            <a:off x="6331297" y="2212777"/>
            <a:ext cx="2316584" cy="1393999"/>
          </a:xfrm>
          <a:prstGeom prst="roundRect">
            <a:avLst>
              <a:gd name="adj" fmla="val 11346"/>
            </a:avLst>
          </a:prstGeom>
          <a:solidFill>
            <a:srgbClr val="FFF9F5"/>
          </a:solidFill>
          <a:ln w="14288">
            <a:solidFill>
              <a:srgbClr val="3F3D3B"/>
            </a:solidFill>
            <a:prstDash val="solid"/>
          </a:ln>
        </p:spPr>
      </p:sp>
      <p:sp>
        <p:nvSpPr>
          <p:cNvPr id="9" name="Text 6"/>
          <p:cNvSpPr/>
          <p:nvPr/>
        </p:nvSpPr>
        <p:spPr>
          <a:xfrm>
            <a:off x="6450955" y="2332434"/>
            <a:ext cx="2054200" cy="164678"/>
          </a:xfrm>
          <a:prstGeom prst="rect">
            <a:avLst/>
          </a:prstGeom>
          <a:noFill/>
          <a:ln/>
        </p:spPr>
        <p:txBody>
          <a:bodyPr wrap="none" lIns="0" tIns="0" rIns="0" bIns="0" rtlCol="0" anchor="t"/>
          <a:lstStyle/>
          <a:p>
            <a:pPr marL="0" indent="0" algn="l">
              <a:lnSpc>
                <a:spcPct val="104000"/>
              </a:lnSpc>
              <a:buNone/>
            </a:pPr>
            <a:r>
              <a:rPr lang="en-US" sz="1000" dirty="0">
                <a:solidFill>
                  <a:srgbClr val="3F3D3B"/>
                </a:solidFill>
                <a:latin typeface="Instrument Sans SemiBold" pitchFamily="34" charset="0"/>
                <a:ea typeface="Instrument Sans SemiBold" pitchFamily="34" charset="-122"/>
                <a:cs typeface="Instrument Sans SemiBold" pitchFamily="34" charset="-120"/>
              </a:rPr>
              <a:t>ZHVILLIMI I QESËS EMBRIONALE</a:t>
            </a:r>
            <a:endParaRPr lang="en-US" sz="1000" dirty="0"/>
          </a:p>
        </p:txBody>
      </p:sp>
      <p:sp>
        <p:nvSpPr>
          <p:cNvPr id="10" name="Text 7"/>
          <p:cNvSpPr/>
          <p:nvPr/>
        </p:nvSpPr>
        <p:spPr>
          <a:xfrm>
            <a:off x="6450955" y="2550840"/>
            <a:ext cx="2077269" cy="936278"/>
          </a:xfrm>
          <a:prstGeom prst="rect">
            <a:avLst/>
          </a:prstGeom>
          <a:noFill/>
          <a:ln/>
        </p:spPr>
        <p:txBody>
          <a:bodyPr wrap="square" lIns="0" tIns="0" rIns="0" bIns="0" rtlCol="0" anchor="t">
            <a:normAutofit/>
          </a:bodyPr>
          <a:lstStyle/>
          <a:p>
            <a:pPr marL="0" indent="0" algn="l">
              <a:lnSpc>
                <a:spcPct val="123000"/>
              </a:lnSpc>
              <a:buNone/>
            </a:pPr>
            <a:r>
              <a:rPr lang="en-US" sz="800" dirty="0">
                <a:solidFill>
                  <a:srgbClr val="3F3D3B"/>
                </a:solidFill>
                <a:latin typeface="Instrument Sans" pitchFamily="34" charset="0"/>
                <a:ea typeface="Instrument Sans" pitchFamily="34" charset="-122"/>
                <a:cs typeface="Instrument Sans" pitchFamily="34" charset="-120"/>
              </a:rPr>
              <a:t>Te shumica e dikotiledoneve vetëm një makrospore zhvillohet dhe formon qesen embrionale — bërthama ndahet tri herë dhe krijohet qesja embrionale me 8 bërthama: 3 antipode, 2 sinergide, 1 qelizë vezë dhe 1 bërthamë dytësore.</a:t>
            </a:r>
            <a:endParaRPr lang="en-US" sz="800" dirty="0"/>
          </a:p>
        </p:txBody>
      </p:sp>
      <p:sp>
        <p:nvSpPr>
          <p:cNvPr id="11" name="Shape 8"/>
          <p:cNvSpPr/>
          <p:nvPr/>
        </p:nvSpPr>
        <p:spPr>
          <a:xfrm>
            <a:off x="3925119" y="3696370"/>
            <a:ext cx="4722763" cy="925860"/>
          </a:xfrm>
          <a:prstGeom prst="roundRect">
            <a:avLst>
              <a:gd name="adj" fmla="val 17082"/>
            </a:avLst>
          </a:prstGeom>
          <a:solidFill>
            <a:srgbClr val="FFF9F5"/>
          </a:solidFill>
          <a:ln w="14288">
            <a:solidFill>
              <a:srgbClr val="A0622C"/>
            </a:solidFill>
            <a:prstDash val="solid"/>
          </a:ln>
        </p:spPr>
      </p:sp>
      <p:sp>
        <p:nvSpPr>
          <p:cNvPr id="12" name="Text 9"/>
          <p:cNvSpPr/>
          <p:nvPr/>
        </p:nvSpPr>
        <p:spPr>
          <a:xfrm>
            <a:off x="4044776" y="3816028"/>
            <a:ext cx="2187029" cy="164678"/>
          </a:xfrm>
          <a:prstGeom prst="rect">
            <a:avLst/>
          </a:prstGeom>
          <a:noFill/>
          <a:ln/>
        </p:spPr>
        <p:txBody>
          <a:bodyPr wrap="none" lIns="0" tIns="0" rIns="0" bIns="0" rtlCol="0" anchor="t"/>
          <a:lstStyle/>
          <a:p>
            <a:pPr marL="0" indent="0" algn="l">
              <a:lnSpc>
                <a:spcPct val="104000"/>
              </a:lnSpc>
              <a:buNone/>
            </a:pPr>
            <a:r>
              <a:rPr lang="en-US" sz="1000" dirty="0">
                <a:solidFill>
                  <a:srgbClr val="3F3D3B"/>
                </a:solidFill>
                <a:latin typeface="Instrument Sans SemiBold" pitchFamily="34" charset="0"/>
                <a:ea typeface="Instrument Sans SemiBold" pitchFamily="34" charset="-122"/>
                <a:cs typeface="Instrument Sans SemiBold" pitchFamily="34" charset="-120"/>
              </a:rPr>
              <a:t>ORGANIZIMI I QESËS EMBRIONALE</a:t>
            </a:r>
            <a:endParaRPr lang="en-US" sz="1000" dirty="0"/>
          </a:p>
        </p:txBody>
      </p:sp>
      <p:sp>
        <p:nvSpPr>
          <p:cNvPr id="13" name="Text 10"/>
          <p:cNvSpPr/>
          <p:nvPr/>
        </p:nvSpPr>
        <p:spPr>
          <a:xfrm>
            <a:off x="4044776" y="4034433"/>
            <a:ext cx="4483447" cy="468139"/>
          </a:xfrm>
          <a:prstGeom prst="rect">
            <a:avLst/>
          </a:prstGeom>
          <a:noFill/>
          <a:ln/>
        </p:spPr>
        <p:txBody>
          <a:bodyPr wrap="square" lIns="0" tIns="0" rIns="0" bIns="0" rtlCol="0" anchor="t">
            <a:normAutofit/>
          </a:bodyPr>
          <a:lstStyle/>
          <a:p>
            <a:pPr marL="0" indent="0" algn="l">
              <a:lnSpc>
                <a:spcPct val="123000"/>
              </a:lnSpc>
              <a:buNone/>
            </a:pPr>
            <a:r>
              <a:rPr lang="en-US" sz="800" dirty="0">
                <a:solidFill>
                  <a:srgbClr val="3F3D3B"/>
                </a:solidFill>
                <a:latin typeface="Instrument Sans" pitchFamily="34" charset="0"/>
                <a:ea typeface="Instrument Sans" pitchFamily="34" charset="-122"/>
                <a:cs typeface="Instrument Sans" pitchFamily="34" charset="-120"/>
              </a:rPr>
              <a:t>Katër bërthama radhiten në anën e mikropilës (qeliza vezë + 2 sinergide + 1 bërthamë), ndërsa 4 bërthamat e tjera radhiten në anën e halazës (3 antipode + 1 bërthamë). Bërthamat qendrore bashkohen duke formuar bërthamën dytësore.</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37939" y="410470"/>
            <a:ext cx="6369769" cy="348853"/>
          </a:xfrm>
          <a:prstGeom prst="rect">
            <a:avLst/>
          </a:prstGeom>
          <a:noFill/>
          <a:ln/>
        </p:spPr>
        <p:txBody>
          <a:bodyPr wrap="none" lIns="0" tIns="0" rIns="0" bIns="0" rtlCol="0" anchor="t"/>
          <a:lstStyle/>
          <a:p>
            <a:pPr marL="0" indent="0" algn="l">
              <a:lnSpc>
                <a:spcPct val="104000"/>
              </a:lnSpc>
              <a:buNone/>
            </a:pPr>
            <a:r>
              <a:rPr lang="en-US" sz="2150" dirty="0">
                <a:solidFill>
                  <a:srgbClr val="A0622C"/>
                </a:solidFill>
                <a:latin typeface="Instrument Sans SemiBold" pitchFamily="34" charset="0"/>
                <a:ea typeface="Instrument Sans SemiBold" pitchFamily="34" charset="-122"/>
                <a:cs typeface="Instrument Sans SemiBold" pitchFamily="34" charset="-120"/>
              </a:rPr>
              <a:t>PROCESI I PLOTË I MAKROSPOROGJENEZËS</a:t>
            </a:r>
            <a:endParaRPr lang="en-US" sz="2150" dirty="0"/>
          </a:p>
        </p:txBody>
      </p:sp>
      <p:sp>
        <p:nvSpPr>
          <p:cNvPr id="3" name="Shape 1"/>
          <p:cNvSpPr/>
          <p:nvPr/>
        </p:nvSpPr>
        <p:spPr>
          <a:xfrm>
            <a:off x="496119" y="1012767"/>
            <a:ext cx="251147" cy="251147"/>
          </a:xfrm>
          <a:prstGeom prst="roundRect">
            <a:avLst>
              <a:gd name="adj" fmla="val 66679"/>
            </a:avLst>
          </a:prstGeom>
          <a:solidFill>
            <a:srgbClr val="E3BC9A"/>
          </a:solidFill>
          <a:ln/>
        </p:spPr>
      </p:sp>
      <p:sp>
        <p:nvSpPr>
          <p:cNvPr id="4" name="Text 2"/>
          <p:cNvSpPr/>
          <p:nvPr/>
        </p:nvSpPr>
        <p:spPr>
          <a:xfrm>
            <a:off x="537939" y="1066805"/>
            <a:ext cx="167432" cy="209327"/>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Instrument Sans SemiBold" pitchFamily="34" charset="0"/>
                <a:ea typeface="Instrument Sans SemiBold" pitchFamily="34" charset="-122"/>
                <a:cs typeface="Instrument Sans SemiBold" pitchFamily="34" charset="-120"/>
              </a:rPr>
              <a:t>1</a:t>
            </a:r>
            <a:endParaRPr lang="en-US" sz="1300" dirty="0"/>
          </a:p>
        </p:txBody>
      </p:sp>
      <p:sp>
        <p:nvSpPr>
          <p:cNvPr id="5" name="Text 3"/>
          <p:cNvSpPr/>
          <p:nvPr/>
        </p:nvSpPr>
        <p:spPr>
          <a:xfrm>
            <a:off x="847725" y="1051165"/>
            <a:ext cx="2488629" cy="174352"/>
          </a:xfrm>
          <a:prstGeom prst="rect">
            <a:avLst/>
          </a:prstGeom>
          <a:noFill/>
          <a:ln/>
        </p:spPr>
        <p:txBody>
          <a:bodyPr wrap="none" lIns="0" tIns="0" rIns="0" bIns="0" rtlCol="0" anchor="t"/>
          <a:lstStyle/>
          <a:p>
            <a:pPr marL="0" indent="0" algn="l">
              <a:lnSpc>
                <a:spcPct val="104000"/>
              </a:lnSpc>
              <a:buNone/>
            </a:pPr>
            <a:r>
              <a:rPr lang="en-US" sz="1050" dirty="0">
                <a:solidFill>
                  <a:srgbClr val="3F3D3B"/>
                </a:solidFill>
                <a:latin typeface="Instrument Sans SemiBold" pitchFamily="34" charset="0"/>
                <a:ea typeface="Instrument Sans SemiBold" pitchFamily="34" charset="-122"/>
                <a:cs typeface="Instrument Sans SemiBold" pitchFamily="34" charset="-120"/>
              </a:rPr>
              <a:t>MEJOZA DHE KATËR MAKROSPORET</a:t>
            </a:r>
            <a:endParaRPr lang="en-US" sz="1050" dirty="0"/>
          </a:p>
        </p:txBody>
      </p:sp>
      <p:sp>
        <p:nvSpPr>
          <p:cNvPr id="6" name="Text 4"/>
          <p:cNvSpPr/>
          <p:nvPr/>
        </p:nvSpPr>
        <p:spPr>
          <a:xfrm>
            <a:off x="765051" y="1379972"/>
            <a:ext cx="3082603" cy="508992"/>
          </a:xfrm>
          <a:prstGeom prst="rect">
            <a:avLst/>
          </a:prstGeom>
          <a:noFill/>
          <a:ln/>
        </p:spPr>
        <p:txBody>
          <a:bodyPr wrap="square" lIns="0" tIns="0" rIns="0" bIns="0" rtlCol="0" anchor="t">
            <a:noAutofit/>
          </a:bodyPr>
          <a:lstStyle/>
          <a:p>
            <a:pPr marL="0" indent="0" algn="l">
              <a:lnSpc>
                <a:spcPct val="127000"/>
              </a:lnSpc>
              <a:buNone/>
            </a:pPr>
            <a:r>
              <a:rPr lang="en-US" sz="1000" dirty="0">
                <a:solidFill>
                  <a:srgbClr val="3F3D3B"/>
                </a:solidFill>
                <a:latin typeface="Instrument Sans" pitchFamily="34" charset="0"/>
                <a:ea typeface="Instrument Sans" pitchFamily="34" charset="-122"/>
                <a:cs typeface="Instrument Sans" pitchFamily="34" charset="-120"/>
              </a:rPr>
              <a:t>Qeliza amë (2n) i nënshtrohet Mejozës I dhe II, duke prodhuar katër makrospore haploide. Te shumica e dikotiledoneve tre prej tyre shkatërrohen.</a:t>
            </a:r>
            <a:endParaRPr lang="en-US" sz="1000" dirty="0"/>
          </a:p>
        </p:txBody>
      </p:sp>
      <p:sp>
        <p:nvSpPr>
          <p:cNvPr id="7" name="Shape 5"/>
          <p:cNvSpPr/>
          <p:nvPr/>
        </p:nvSpPr>
        <p:spPr>
          <a:xfrm>
            <a:off x="496081" y="2152730"/>
            <a:ext cx="251147" cy="251147"/>
          </a:xfrm>
          <a:prstGeom prst="roundRect">
            <a:avLst>
              <a:gd name="adj" fmla="val 66679"/>
            </a:avLst>
          </a:prstGeom>
          <a:solidFill>
            <a:srgbClr val="3F3D3B"/>
          </a:solidFill>
          <a:ln/>
        </p:spPr>
      </p:sp>
      <p:sp>
        <p:nvSpPr>
          <p:cNvPr id="8" name="Text 6"/>
          <p:cNvSpPr/>
          <p:nvPr/>
        </p:nvSpPr>
        <p:spPr>
          <a:xfrm>
            <a:off x="537939" y="2194550"/>
            <a:ext cx="167432" cy="209327"/>
          </a:xfrm>
          <a:prstGeom prst="rect">
            <a:avLst/>
          </a:prstGeom>
          <a:noFill/>
          <a:ln/>
        </p:spPr>
        <p:txBody>
          <a:bodyPr wrap="none" lIns="0" tIns="0" rIns="0" bIns="0" rtlCol="0" anchor="ctr"/>
          <a:lstStyle/>
          <a:p>
            <a:pPr marL="0" indent="0" algn="ctr">
              <a:lnSpc>
                <a:spcPct val="100000"/>
              </a:lnSpc>
              <a:buNone/>
            </a:pPr>
            <a:r>
              <a:rPr lang="en-US" sz="1300" dirty="0">
                <a:solidFill>
                  <a:srgbClr val="FFFFFF"/>
                </a:solidFill>
                <a:latin typeface="Instrument Sans SemiBold" pitchFamily="34" charset="0"/>
                <a:ea typeface="Instrument Sans SemiBold" pitchFamily="34" charset="-122"/>
                <a:cs typeface="Instrument Sans SemiBold" pitchFamily="34" charset="-120"/>
              </a:rPr>
              <a:t>2</a:t>
            </a:r>
            <a:endParaRPr lang="en-US" sz="1300" dirty="0"/>
          </a:p>
        </p:txBody>
      </p:sp>
      <p:sp>
        <p:nvSpPr>
          <p:cNvPr id="9" name="Text 7"/>
          <p:cNvSpPr/>
          <p:nvPr/>
        </p:nvSpPr>
        <p:spPr>
          <a:xfrm>
            <a:off x="847725" y="2167985"/>
            <a:ext cx="2640137" cy="174352"/>
          </a:xfrm>
          <a:prstGeom prst="rect">
            <a:avLst/>
          </a:prstGeom>
          <a:noFill/>
          <a:ln/>
        </p:spPr>
        <p:txBody>
          <a:bodyPr wrap="none" lIns="0" tIns="0" rIns="0" bIns="0" rtlCol="0" anchor="t"/>
          <a:lstStyle/>
          <a:p>
            <a:pPr marL="0" indent="0" algn="l">
              <a:lnSpc>
                <a:spcPct val="104000"/>
              </a:lnSpc>
              <a:buNone/>
            </a:pPr>
            <a:r>
              <a:rPr lang="en-US" sz="1100" dirty="0">
                <a:solidFill>
                  <a:srgbClr val="3F3D3B"/>
                </a:solidFill>
                <a:latin typeface="Instrument Sans SemiBold" pitchFamily="34" charset="0"/>
                <a:ea typeface="Instrument Sans SemiBold" pitchFamily="34" charset="-122"/>
                <a:cs typeface="Instrument Sans SemiBold" pitchFamily="34" charset="-120"/>
              </a:rPr>
              <a:t>NDARJET MITOTIKE TË MAKROSPORËS</a:t>
            </a:r>
            <a:endParaRPr lang="en-US" sz="1100" dirty="0"/>
          </a:p>
        </p:txBody>
      </p:sp>
      <p:sp>
        <p:nvSpPr>
          <p:cNvPr id="10" name="Text 8"/>
          <p:cNvSpPr/>
          <p:nvPr/>
        </p:nvSpPr>
        <p:spPr>
          <a:xfrm>
            <a:off x="847724" y="2444091"/>
            <a:ext cx="3082603" cy="508992"/>
          </a:xfrm>
          <a:prstGeom prst="rect">
            <a:avLst/>
          </a:prstGeom>
          <a:noFill/>
          <a:ln/>
        </p:spPr>
        <p:txBody>
          <a:bodyPr wrap="square" lIns="0" tIns="0" rIns="0" bIns="0" rtlCol="0" anchor="t">
            <a:noAutofit/>
          </a:bodyPr>
          <a:lstStyle/>
          <a:p>
            <a:pPr marL="0" indent="0" algn="l">
              <a:lnSpc>
                <a:spcPct val="127000"/>
              </a:lnSpc>
              <a:buNone/>
            </a:pPr>
            <a:r>
              <a:rPr lang="en-US" sz="1000" dirty="0">
                <a:solidFill>
                  <a:srgbClr val="3F3D3B"/>
                </a:solidFill>
                <a:latin typeface="Instrument Sans" pitchFamily="34" charset="0"/>
                <a:ea typeface="Instrument Sans" pitchFamily="34" charset="-122"/>
                <a:cs typeface="Instrument Sans" pitchFamily="34" charset="-120"/>
              </a:rPr>
              <a:t>Makrospora e mbetur ndahet vetëm nga bërthama (pa citokinezë), duke formuar qesen embrionale me 2 bërthama, pastaj 4 dhe më pas 8 bërthama.</a:t>
            </a:r>
            <a:endParaRPr lang="en-US" sz="1000" dirty="0"/>
          </a:p>
        </p:txBody>
      </p:sp>
      <p:sp>
        <p:nvSpPr>
          <p:cNvPr id="11" name="Shape 9"/>
          <p:cNvSpPr/>
          <p:nvPr/>
        </p:nvSpPr>
        <p:spPr>
          <a:xfrm>
            <a:off x="496119" y="3433465"/>
            <a:ext cx="251147" cy="251147"/>
          </a:xfrm>
          <a:prstGeom prst="roundRect">
            <a:avLst>
              <a:gd name="adj" fmla="val 66679"/>
            </a:avLst>
          </a:prstGeom>
          <a:solidFill>
            <a:srgbClr val="A0622C"/>
          </a:solidFill>
          <a:ln/>
        </p:spPr>
      </p:sp>
      <p:sp>
        <p:nvSpPr>
          <p:cNvPr id="12" name="Text 10"/>
          <p:cNvSpPr/>
          <p:nvPr/>
        </p:nvSpPr>
        <p:spPr>
          <a:xfrm>
            <a:off x="537939" y="3454338"/>
            <a:ext cx="167432" cy="209327"/>
          </a:xfrm>
          <a:prstGeom prst="rect">
            <a:avLst/>
          </a:prstGeom>
          <a:noFill/>
          <a:ln/>
        </p:spPr>
        <p:txBody>
          <a:bodyPr wrap="none" lIns="0" tIns="0" rIns="0" bIns="0" rtlCol="0" anchor="ctr"/>
          <a:lstStyle/>
          <a:p>
            <a:pPr marL="0" indent="0" algn="ctr">
              <a:lnSpc>
                <a:spcPct val="100000"/>
              </a:lnSpc>
              <a:buNone/>
            </a:pPr>
            <a:r>
              <a:rPr lang="en-US" sz="1300" dirty="0">
                <a:solidFill>
                  <a:srgbClr val="FFFFFF"/>
                </a:solidFill>
                <a:latin typeface="Instrument Sans SemiBold" pitchFamily="34" charset="0"/>
                <a:ea typeface="Instrument Sans SemiBold" pitchFamily="34" charset="-122"/>
                <a:cs typeface="Instrument Sans SemiBold" pitchFamily="34" charset="-120"/>
              </a:rPr>
              <a:t>3</a:t>
            </a:r>
            <a:endParaRPr lang="en-US" sz="1300" dirty="0"/>
          </a:p>
        </p:txBody>
      </p:sp>
      <p:sp>
        <p:nvSpPr>
          <p:cNvPr id="13" name="Text 11"/>
          <p:cNvSpPr/>
          <p:nvPr/>
        </p:nvSpPr>
        <p:spPr>
          <a:xfrm>
            <a:off x="982489" y="3377947"/>
            <a:ext cx="1436043" cy="174352"/>
          </a:xfrm>
          <a:prstGeom prst="rect">
            <a:avLst/>
          </a:prstGeom>
          <a:noFill/>
          <a:ln/>
        </p:spPr>
        <p:txBody>
          <a:bodyPr wrap="none" lIns="0" tIns="0" rIns="0" bIns="0" rtlCol="0" anchor="t"/>
          <a:lstStyle/>
          <a:p>
            <a:pPr marL="0" indent="0" algn="l">
              <a:lnSpc>
                <a:spcPct val="104000"/>
              </a:lnSpc>
              <a:buNone/>
            </a:pPr>
            <a:r>
              <a:rPr lang="en-US" sz="1050" dirty="0">
                <a:solidFill>
                  <a:srgbClr val="3F3D3B"/>
                </a:solidFill>
                <a:latin typeface="Instrument Sans SemiBold" pitchFamily="34" charset="0"/>
                <a:ea typeface="Instrument Sans SemiBold" pitchFamily="34" charset="-122"/>
                <a:cs typeface="Instrument Sans SemiBold" pitchFamily="34" charset="-120"/>
              </a:rPr>
              <a:t>MONOKOTILEDONET</a:t>
            </a:r>
            <a:endParaRPr lang="en-US" sz="1050" dirty="0"/>
          </a:p>
        </p:txBody>
      </p:sp>
      <p:sp>
        <p:nvSpPr>
          <p:cNvPr id="14" name="Text 12"/>
          <p:cNvSpPr/>
          <p:nvPr/>
        </p:nvSpPr>
        <p:spPr>
          <a:xfrm>
            <a:off x="847725" y="3746598"/>
            <a:ext cx="3082603" cy="643917"/>
          </a:xfrm>
          <a:prstGeom prst="rect">
            <a:avLst/>
          </a:prstGeom>
          <a:noFill/>
          <a:ln/>
        </p:spPr>
        <p:txBody>
          <a:bodyPr wrap="square" lIns="0" tIns="0" rIns="0" bIns="0" rtlCol="0" anchor="t">
            <a:noAutofit/>
          </a:bodyPr>
          <a:lstStyle/>
          <a:p>
            <a:pPr marL="0" indent="0" algn="l">
              <a:lnSpc>
                <a:spcPct val="127000"/>
              </a:lnSpc>
              <a:buNone/>
            </a:pPr>
            <a:r>
              <a:rPr lang="en-US" sz="1050" dirty="0">
                <a:solidFill>
                  <a:srgbClr val="3F3D3B"/>
                </a:solidFill>
                <a:latin typeface="Instrument Sans" pitchFamily="34" charset="0"/>
                <a:ea typeface="Instrument Sans" pitchFamily="34" charset="-122"/>
                <a:cs typeface="Instrument Sans" pitchFamily="34" charset="-120"/>
              </a:rPr>
              <a:t>Te monokotiledonet zhvillohet i njëjti proces me dallim se të gjitha makrosporet ndahen dhe marrin pjesë në formimin e qesës embrionale.</a:t>
            </a:r>
            <a:endParaRPr lang="en-US" sz="1050" dirty="0"/>
          </a:p>
        </p:txBody>
      </p:sp>
      <p:pic>
        <p:nvPicPr>
          <p:cNvPr id="15" name="Image 0" descr="preencoded.png"/>
          <p:cNvPicPr>
            <a:picLocks noChangeAspect="1"/>
          </p:cNvPicPr>
          <p:nvPr/>
        </p:nvPicPr>
        <p:blipFill>
          <a:blip r:embed="rId3"/>
          <a:stretch>
            <a:fillRect/>
          </a:stretch>
        </p:blipFill>
        <p:spPr>
          <a:xfrm>
            <a:off x="4627842" y="885232"/>
            <a:ext cx="3322130" cy="2277858"/>
          </a:xfrm>
          <a:prstGeom prst="rect">
            <a:avLst/>
          </a:prstGeom>
        </p:spPr>
      </p:pic>
      <p:sp>
        <p:nvSpPr>
          <p:cNvPr id="16" name="Shape 13"/>
          <p:cNvSpPr/>
          <p:nvPr/>
        </p:nvSpPr>
        <p:spPr>
          <a:xfrm>
            <a:off x="4207446" y="3385765"/>
            <a:ext cx="4445124" cy="1221136"/>
          </a:xfrm>
          <a:prstGeom prst="roundRect">
            <a:avLst>
              <a:gd name="adj" fmla="val 22011"/>
            </a:avLst>
          </a:prstGeom>
          <a:solidFill>
            <a:srgbClr val="FFF9F5"/>
          </a:solidFill>
          <a:ln w="14288">
            <a:solidFill>
              <a:srgbClr val="E3BC9A"/>
            </a:solidFill>
            <a:prstDash val="solid"/>
          </a:ln>
        </p:spPr>
      </p:sp>
      <p:sp>
        <p:nvSpPr>
          <p:cNvPr id="17" name="Text 14"/>
          <p:cNvSpPr/>
          <p:nvPr/>
        </p:nvSpPr>
        <p:spPr>
          <a:xfrm>
            <a:off x="4333354" y="3511673"/>
            <a:ext cx="4193307" cy="878841"/>
          </a:xfrm>
          <a:prstGeom prst="rect">
            <a:avLst/>
          </a:prstGeom>
          <a:noFill/>
          <a:ln/>
        </p:spPr>
        <p:txBody>
          <a:bodyPr wrap="square" lIns="0" tIns="0" rIns="0" bIns="0" rtlCol="0" anchor="t">
            <a:noAutofit/>
          </a:bodyPr>
          <a:lstStyle/>
          <a:p>
            <a:pPr marL="0" indent="0" algn="l">
              <a:lnSpc>
                <a:spcPct val="127000"/>
              </a:lnSpc>
              <a:buNone/>
            </a:pPr>
            <a:r>
              <a:rPr lang="en-US" sz="1050" dirty="0">
                <a:solidFill>
                  <a:srgbClr val="3F3D3B"/>
                </a:solidFill>
                <a:latin typeface="Instrument Sans" pitchFamily="34" charset="0"/>
                <a:ea typeface="Instrument Sans" pitchFamily="34" charset="-122"/>
                <a:cs typeface="Instrument Sans" pitchFamily="34" charset="-120"/>
              </a:rPr>
              <a:t>Qesja embrionale e pjekur përmban: </a:t>
            </a:r>
            <a:r>
              <a:rPr lang="en-US" sz="1050" b="1" dirty="0">
                <a:solidFill>
                  <a:srgbClr val="3F3D3B"/>
                </a:solidFill>
                <a:latin typeface="Instrument Sans" pitchFamily="34" charset="0"/>
                <a:ea typeface="Instrument Sans" pitchFamily="34" charset="-122"/>
                <a:cs typeface="Instrument Sans" pitchFamily="34" charset="-120"/>
              </a:rPr>
              <a:t>qelizën vezë</a:t>
            </a:r>
            <a:r>
              <a:rPr lang="en-US" sz="1050" dirty="0">
                <a:solidFill>
                  <a:srgbClr val="3F3D3B"/>
                </a:solidFill>
                <a:latin typeface="Instrument Sans" pitchFamily="34" charset="0"/>
                <a:ea typeface="Instrument Sans" pitchFamily="34" charset="-122"/>
                <a:cs typeface="Instrument Sans" pitchFamily="34" charset="-120"/>
              </a:rPr>
              <a:t> (e afta për fekondim), </a:t>
            </a:r>
            <a:r>
              <a:rPr lang="en-US" sz="1050" b="1" dirty="0">
                <a:solidFill>
                  <a:srgbClr val="3F3D3B"/>
                </a:solidFill>
                <a:latin typeface="Instrument Sans" pitchFamily="34" charset="0"/>
                <a:ea typeface="Instrument Sans" pitchFamily="34" charset="-122"/>
                <a:cs typeface="Instrument Sans" pitchFamily="34" charset="-120"/>
              </a:rPr>
              <a:t>dy sinergide</a:t>
            </a:r>
            <a:r>
              <a:rPr lang="en-US" sz="1050" dirty="0">
                <a:solidFill>
                  <a:srgbClr val="3F3D3B"/>
                </a:solidFill>
                <a:latin typeface="Instrument Sans" pitchFamily="34" charset="0"/>
                <a:ea typeface="Instrument Sans" pitchFamily="34" charset="-122"/>
                <a:cs typeface="Instrument Sans" pitchFamily="34" charset="-120"/>
              </a:rPr>
              <a:t>, </a:t>
            </a:r>
            <a:r>
              <a:rPr lang="en-US" sz="1050" b="1" dirty="0">
                <a:solidFill>
                  <a:srgbClr val="3F3D3B"/>
                </a:solidFill>
                <a:latin typeface="Instrument Sans" pitchFamily="34" charset="0"/>
                <a:ea typeface="Instrument Sans" pitchFamily="34" charset="-122"/>
                <a:cs typeface="Instrument Sans" pitchFamily="34" charset="-120"/>
              </a:rPr>
              <a:t>tri antipode</a:t>
            </a:r>
            <a:r>
              <a:rPr lang="en-US" sz="1050" dirty="0">
                <a:solidFill>
                  <a:srgbClr val="3F3D3B"/>
                </a:solidFill>
                <a:latin typeface="Instrument Sans" pitchFamily="34" charset="0"/>
                <a:ea typeface="Instrument Sans" pitchFamily="34" charset="-122"/>
                <a:cs typeface="Instrument Sans" pitchFamily="34" charset="-120"/>
              </a:rPr>
              <a:t> dhe </a:t>
            </a:r>
            <a:r>
              <a:rPr lang="en-US" sz="1050" b="1" dirty="0">
                <a:solidFill>
                  <a:srgbClr val="3F3D3B"/>
                </a:solidFill>
                <a:latin typeface="Instrument Sans" pitchFamily="34" charset="0"/>
                <a:ea typeface="Instrument Sans" pitchFamily="34" charset="-122"/>
                <a:cs typeface="Instrument Sans" pitchFamily="34" charset="-120"/>
              </a:rPr>
              <a:t>bërthamën dytësore</a:t>
            </a:r>
            <a:r>
              <a:rPr lang="en-US" sz="1050" dirty="0">
                <a:solidFill>
                  <a:srgbClr val="3F3D3B"/>
                </a:solidFill>
                <a:latin typeface="Instrument Sans" pitchFamily="34" charset="0"/>
                <a:ea typeface="Instrument Sans" pitchFamily="34" charset="-122"/>
                <a:cs typeface="Instrument Sans" pitchFamily="34" charset="-120"/>
              </a:rPr>
              <a:t> qendrore të gatshme për fekondimin e dyfishtë karakteristik të bimëve farëveshura.</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1562919"/>
          </a:xfrm>
          <a:prstGeom prst="rect">
            <a:avLst/>
          </a:prstGeom>
        </p:spPr>
      </p:pic>
      <p:sp>
        <p:nvSpPr>
          <p:cNvPr id="3" name="Shape 0"/>
          <p:cNvSpPr/>
          <p:nvPr/>
        </p:nvSpPr>
        <p:spPr>
          <a:xfrm>
            <a:off x="496119" y="1544538"/>
            <a:ext cx="915963" cy="202704"/>
          </a:xfrm>
          <a:prstGeom prst="roundRect">
            <a:avLst>
              <a:gd name="adj" fmla="val 66092"/>
            </a:avLst>
          </a:prstGeom>
          <a:solidFill>
            <a:srgbClr val="F4E5D7"/>
          </a:solidFill>
          <a:ln/>
        </p:spPr>
      </p:sp>
      <p:pic>
        <p:nvPicPr>
          <p:cNvPr id="4" name="Image 1" descr="preencoded.png"/>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350094" y="1601240"/>
            <a:ext cx="89297" cy="89297"/>
          </a:xfrm>
          <a:prstGeom prst="rect">
            <a:avLst/>
          </a:prstGeom>
        </p:spPr>
      </p:pic>
      <p:sp>
        <p:nvSpPr>
          <p:cNvPr id="5" name="Text 1"/>
          <p:cNvSpPr/>
          <p:nvPr/>
        </p:nvSpPr>
        <p:spPr>
          <a:xfrm>
            <a:off x="563091" y="1578024"/>
            <a:ext cx="1105272" cy="135731"/>
          </a:xfrm>
          <a:prstGeom prst="rect">
            <a:avLst/>
          </a:prstGeom>
          <a:noFill/>
          <a:ln/>
        </p:spPr>
        <p:txBody>
          <a:bodyPr wrap="none" lIns="0" tIns="0" rIns="0" bIns="0" rtlCol="0" anchor="t"/>
          <a:lstStyle/>
          <a:p>
            <a:pPr marL="0" indent="0" algn="l">
              <a:lnSpc>
                <a:spcPct val="127000"/>
              </a:lnSpc>
              <a:buNone/>
            </a:pPr>
            <a:r>
              <a:rPr lang="en-US" sz="700" dirty="0">
                <a:solidFill>
                  <a:srgbClr val="3F3D3B"/>
                </a:solidFill>
                <a:latin typeface="Instrument Sans" pitchFamily="34" charset="0"/>
                <a:ea typeface="Instrument Sans" pitchFamily="34" charset="-122"/>
                <a:cs typeface="Instrument Sans" pitchFamily="34" charset="-120"/>
              </a:rPr>
              <a:t>PËRMBLEDHJE</a:t>
            </a:r>
            <a:endParaRPr lang="en-US" sz="700" dirty="0"/>
          </a:p>
        </p:txBody>
      </p:sp>
      <p:sp>
        <p:nvSpPr>
          <p:cNvPr id="6" name="Text 2"/>
          <p:cNvSpPr/>
          <p:nvPr/>
        </p:nvSpPr>
        <p:spPr>
          <a:xfrm>
            <a:off x="1200373" y="707494"/>
            <a:ext cx="7105948" cy="348853"/>
          </a:xfrm>
          <a:prstGeom prst="rect">
            <a:avLst/>
          </a:prstGeom>
          <a:noFill/>
          <a:ln/>
        </p:spPr>
        <p:txBody>
          <a:bodyPr wrap="none" lIns="0" tIns="0" rIns="0" bIns="0" rtlCol="0" anchor="t"/>
          <a:lstStyle/>
          <a:p>
            <a:pPr marL="0" indent="0" algn="l">
              <a:lnSpc>
                <a:spcPct val="104000"/>
              </a:lnSpc>
              <a:buNone/>
            </a:pPr>
            <a:r>
              <a:rPr lang="en-US" sz="2150" dirty="0">
                <a:solidFill>
                  <a:srgbClr val="FF0000"/>
                </a:solidFill>
                <a:latin typeface="Instrument Sans SemiBold" pitchFamily="34" charset="0"/>
                <a:ea typeface="Instrument Sans SemiBold" pitchFamily="34" charset="-122"/>
                <a:cs typeface="Instrument Sans SemiBold" pitchFamily="34" charset="-120"/>
              </a:rPr>
              <a:t>KONCEPTET KRYESORE TË SHUMIMIT TË BIMËVE</a:t>
            </a:r>
            <a:endParaRPr lang="en-US" sz="2150" dirty="0">
              <a:solidFill>
                <a:srgbClr val="FF0000"/>
              </a:solidFill>
            </a:endParaRPr>
          </a:p>
        </p:txBody>
      </p:sp>
      <p:sp>
        <p:nvSpPr>
          <p:cNvPr id="7" name="Text 3"/>
          <p:cNvSpPr/>
          <p:nvPr/>
        </p:nvSpPr>
        <p:spPr>
          <a:xfrm>
            <a:off x="496118" y="1751943"/>
            <a:ext cx="8151763" cy="791691"/>
          </a:xfrm>
          <a:prstGeom prst="rect">
            <a:avLst/>
          </a:prstGeom>
          <a:noFill/>
          <a:ln/>
        </p:spPr>
        <p:txBody>
          <a:bodyPr wrap="square" lIns="0" tIns="0" rIns="0" bIns="0" rtlCol="0" anchor="t">
            <a:noAutofit/>
          </a:bodyPr>
          <a:lstStyle/>
          <a:p>
            <a:pPr marL="0" indent="0" algn="l">
              <a:lnSpc>
                <a:spcPct val="127000"/>
              </a:lnSpc>
              <a:buNone/>
            </a:pPr>
            <a:r>
              <a:rPr lang="en-US" sz="1400" dirty="0">
                <a:solidFill>
                  <a:srgbClr val="3F3D3B"/>
                </a:solidFill>
                <a:latin typeface="Instrument Sans" pitchFamily="34" charset="0"/>
                <a:ea typeface="Instrument Sans" pitchFamily="34" charset="-122"/>
                <a:cs typeface="Instrument Sans" pitchFamily="34" charset="-120"/>
              </a:rPr>
              <a:t>Shumimi i bimëve farëveshura përfshin dy rrugë kryesore: shumimin vegjetativ dhe atë seksual. Të dyja mënyrat kanë rëndësi biologjike të madhe dhe shfrytëzohen gjerësisht si në natyrë ashtu edhe në bujqësi dhe hortikulturë.</a:t>
            </a:r>
            <a:endParaRPr lang="en-US" sz="1400" dirty="0"/>
          </a:p>
        </p:txBody>
      </p:sp>
      <p:pic>
        <p:nvPicPr>
          <p:cNvPr id="8" name="Image 2" descr="preencoded.png"/>
          <p:cNvPicPr>
            <a:picLocks noChangeAspect="1"/>
          </p:cNvPicPr>
          <p:nvPr/>
        </p:nvPicPr>
        <p:blipFill>
          <a:blip r:embed="rId4">
            <a:extLst>
              <a:ext uri="{96DAC541-7B7A-43D3-8B79-37D633B846F1}">
                <asvg:svgBlip xmlns="" xmlns:asvg="http://schemas.microsoft.com/office/drawing/2016/SVG/main" r:embed="rId6"/>
              </a:ext>
            </a:extLst>
          </a:blip>
          <a:stretch>
            <a:fillRect/>
          </a:stretch>
        </p:blipFill>
        <p:spPr>
          <a:xfrm>
            <a:off x="524445" y="2743547"/>
            <a:ext cx="167432" cy="167432"/>
          </a:xfrm>
          <a:prstGeom prst="rect">
            <a:avLst/>
          </a:prstGeom>
        </p:spPr>
      </p:pic>
      <p:sp>
        <p:nvSpPr>
          <p:cNvPr id="9" name="Text 4"/>
          <p:cNvSpPr/>
          <p:nvPr/>
        </p:nvSpPr>
        <p:spPr>
          <a:xfrm>
            <a:off x="813049" y="2736627"/>
            <a:ext cx="1466850" cy="174352"/>
          </a:xfrm>
          <a:prstGeom prst="rect">
            <a:avLst/>
          </a:prstGeom>
          <a:noFill/>
          <a:ln/>
        </p:spPr>
        <p:txBody>
          <a:bodyPr wrap="none" lIns="0" tIns="0" rIns="0" bIns="0" rtlCol="0" anchor="t"/>
          <a:lstStyle/>
          <a:p>
            <a:pPr marL="0" indent="0" algn="l">
              <a:lnSpc>
                <a:spcPct val="104000"/>
              </a:lnSpc>
              <a:buNone/>
            </a:pPr>
            <a:r>
              <a:rPr lang="en-US" sz="1050" dirty="0">
                <a:solidFill>
                  <a:srgbClr val="3F3D3B"/>
                </a:solidFill>
                <a:latin typeface="Instrument Sans SemiBold" pitchFamily="34" charset="0"/>
                <a:ea typeface="Instrument Sans SemiBold" pitchFamily="34" charset="-122"/>
                <a:cs typeface="Instrument Sans SemiBold" pitchFamily="34" charset="-120"/>
              </a:rPr>
              <a:t>SHUMIMI </a:t>
            </a:r>
            <a:r>
              <a:rPr lang="en-US" sz="1200" dirty="0">
                <a:solidFill>
                  <a:srgbClr val="3F3D3B"/>
                </a:solidFill>
                <a:latin typeface="Instrument Sans SemiBold" pitchFamily="34" charset="0"/>
                <a:ea typeface="Instrument Sans SemiBold" pitchFamily="34" charset="-122"/>
                <a:cs typeface="Instrument Sans SemiBold" pitchFamily="34" charset="-120"/>
              </a:rPr>
              <a:t>VEGJETATIV</a:t>
            </a:r>
            <a:endParaRPr lang="en-US" sz="1050" dirty="0"/>
          </a:p>
        </p:txBody>
      </p:sp>
      <p:sp>
        <p:nvSpPr>
          <p:cNvPr id="10" name="Text 5"/>
          <p:cNvSpPr/>
          <p:nvPr/>
        </p:nvSpPr>
        <p:spPr>
          <a:xfrm>
            <a:off x="858887" y="3103972"/>
            <a:ext cx="2270745" cy="814747"/>
          </a:xfrm>
          <a:prstGeom prst="rect">
            <a:avLst/>
          </a:prstGeom>
          <a:noFill/>
          <a:ln/>
        </p:spPr>
        <p:txBody>
          <a:bodyPr wrap="square" lIns="0" tIns="0" rIns="0" bIns="0" rtlCol="0" anchor="t">
            <a:normAutofit/>
          </a:bodyPr>
          <a:lstStyle/>
          <a:p>
            <a:pPr marL="0" indent="0" algn="l">
              <a:lnSpc>
                <a:spcPct val="127000"/>
              </a:lnSpc>
              <a:buNone/>
            </a:pPr>
            <a:r>
              <a:rPr lang="en-US" sz="1000" dirty="0">
                <a:solidFill>
                  <a:srgbClr val="3F3D3B"/>
                </a:solidFill>
                <a:latin typeface="Instrument Sans" pitchFamily="34" charset="0"/>
                <a:ea typeface="Instrument Sans" pitchFamily="34" charset="-122"/>
                <a:cs typeface="Instrument Sans" pitchFamily="34" charset="-120"/>
              </a:rPr>
              <a:t>Natyror (stolone, zhardhokë, rizoma, bulbe) ose artificial (prerje, sytha, kulturat indore). Krijon bimë gjenetikisht identike me bimën amë.</a:t>
            </a:r>
            <a:endParaRPr lang="en-US" sz="1000" dirty="0"/>
          </a:p>
        </p:txBody>
      </p:sp>
      <p:pic>
        <p:nvPicPr>
          <p:cNvPr id="11" name="Image 3" descr="preencoded.png"/>
          <p:cNvPicPr>
            <a:picLocks noChangeAspect="1"/>
          </p:cNvPicPr>
          <p:nvPr/>
        </p:nvPicPr>
        <p:blipFill>
          <a:blip r:embed="rId4">
            <a:extLst>
              <a:ext uri="{96DAC541-7B7A-43D3-8B79-37D633B846F1}">
                <asvg:svgBlip xmlns="" xmlns:asvg="http://schemas.microsoft.com/office/drawing/2016/SVG/main" r:embed="rId7"/>
              </a:ext>
            </a:extLst>
          </a:blip>
          <a:stretch>
            <a:fillRect/>
          </a:stretch>
        </p:blipFill>
        <p:spPr>
          <a:xfrm>
            <a:off x="3296989" y="2729990"/>
            <a:ext cx="167432" cy="167432"/>
          </a:xfrm>
          <a:prstGeom prst="rect">
            <a:avLst/>
          </a:prstGeom>
        </p:spPr>
      </p:pic>
      <p:sp>
        <p:nvSpPr>
          <p:cNvPr id="12" name="Text 6"/>
          <p:cNvSpPr/>
          <p:nvPr/>
        </p:nvSpPr>
        <p:spPr>
          <a:xfrm>
            <a:off x="3617937" y="2732658"/>
            <a:ext cx="1395487" cy="174352"/>
          </a:xfrm>
          <a:prstGeom prst="rect">
            <a:avLst/>
          </a:prstGeom>
          <a:noFill/>
          <a:ln/>
        </p:spPr>
        <p:txBody>
          <a:bodyPr wrap="none" lIns="0" tIns="0" rIns="0" bIns="0" rtlCol="0" anchor="t"/>
          <a:lstStyle/>
          <a:p>
            <a:pPr marL="0" indent="0" algn="l">
              <a:lnSpc>
                <a:spcPct val="104000"/>
              </a:lnSpc>
              <a:buNone/>
            </a:pPr>
            <a:r>
              <a:rPr lang="en-US" sz="1200" dirty="0">
                <a:solidFill>
                  <a:srgbClr val="3F3D3B"/>
                </a:solidFill>
                <a:latin typeface="Instrument Sans SemiBold" pitchFamily="34" charset="0"/>
                <a:ea typeface="Instrument Sans SemiBold" pitchFamily="34" charset="-122"/>
                <a:cs typeface="Instrument Sans SemiBold" pitchFamily="34" charset="-120"/>
              </a:rPr>
              <a:t>GAMETOGJENEZA</a:t>
            </a:r>
            <a:endParaRPr lang="en-US" sz="1050" dirty="0"/>
          </a:p>
        </p:txBody>
      </p:sp>
      <p:sp>
        <p:nvSpPr>
          <p:cNvPr id="13" name="Text 7"/>
          <p:cNvSpPr/>
          <p:nvPr/>
        </p:nvSpPr>
        <p:spPr>
          <a:xfrm>
            <a:off x="3617937" y="3018631"/>
            <a:ext cx="2270820" cy="900088"/>
          </a:xfrm>
          <a:prstGeom prst="rect">
            <a:avLst/>
          </a:prstGeom>
          <a:noFill/>
          <a:ln/>
        </p:spPr>
        <p:txBody>
          <a:bodyPr wrap="square" lIns="0" tIns="0" rIns="0" bIns="0" rtlCol="0" anchor="t">
            <a:noAutofit/>
          </a:bodyPr>
          <a:lstStyle/>
          <a:p>
            <a:pPr marL="0" indent="0" algn="l">
              <a:lnSpc>
                <a:spcPct val="127000"/>
              </a:lnSpc>
              <a:buNone/>
            </a:pPr>
            <a:r>
              <a:rPr lang="en-US" sz="1000" dirty="0">
                <a:solidFill>
                  <a:srgbClr val="3F3D3B"/>
                </a:solidFill>
                <a:latin typeface="Instrument Sans" pitchFamily="34" charset="0"/>
                <a:ea typeface="Instrument Sans" pitchFamily="34" charset="-122"/>
                <a:cs typeface="Instrument Sans" pitchFamily="34" charset="-120"/>
              </a:rPr>
              <a:t>Mikrosporogjeneza (formimi i kokërzave të polenit) dhe makrosporogjeneza (formimi i qesës embrionale me 8 bërthama) janë proceset bazë të shumimit seksual.</a:t>
            </a:r>
            <a:endParaRPr lang="en-US" sz="1000" dirty="0"/>
          </a:p>
        </p:txBody>
      </p:sp>
      <p:pic>
        <p:nvPicPr>
          <p:cNvPr id="14" name="Image 4" descr="preencoded.png"/>
          <p:cNvPicPr>
            <a:picLocks noChangeAspect="1"/>
          </p:cNvPicPr>
          <p:nvPr/>
        </p:nvPicPr>
        <p:blipFill>
          <a:blip r:embed="rId4">
            <a:extLst>
              <a:ext uri="{96DAC541-7B7A-43D3-8B79-37D633B846F1}">
                <asvg:svgBlip xmlns="" xmlns:asvg="http://schemas.microsoft.com/office/drawing/2016/SVG/main" r:embed="rId9"/>
              </a:ext>
            </a:extLst>
          </a:blip>
          <a:stretch>
            <a:fillRect/>
          </a:stretch>
        </p:blipFill>
        <p:spPr>
          <a:xfrm>
            <a:off x="6056114" y="2729990"/>
            <a:ext cx="167432" cy="167432"/>
          </a:xfrm>
          <a:prstGeom prst="rect">
            <a:avLst/>
          </a:prstGeom>
        </p:spPr>
      </p:pic>
      <p:sp>
        <p:nvSpPr>
          <p:cNvPr id="15" name="Text 8"/>
          <p:cNvSpPr/>
          <p:nvPr/>
        </p:nvSpPr>
        <p:spPr>
          <a:xfrm>
            <a:off x="6377062" y="2726530"/>
            <a:ext cx="1395487" cy="174352"/>
          </a:xfrm>
          <a:prstGeom prst="rect">
            <a:avLst/>
          </a:prstGeom>
          <a:noFill/>
          <a:ln/>
        </p:spPr>
        <p:txBody>
          <a:bodyPr wrap="none" lIns="0" tIns="0" rIns="0" bIns="0" rtlCol="0" anchor="t"/>
          <a:lstStyle/>
          <a:p>
            <a:pPr marL="0" indent="0" algn="l">
              <a:lnSpc>
                <a:spcPct val="104000"/>
              </a:lnSpc>
              <a:buNone/>
            </a:pPr>
            <a:r>
              <a:rPr lang="en-US" sz="1200" dirty="0">
                <a:solidFill>
                  <a:srgbClr val="3F3D3B"/>
                </a:solidFill>
                <a:latin typeface="Instrument Sans SemiBold" pitchFamily="34" charset="0"/>
                <a:ea typeface="Instrument Sans SemiBold" pitchFamily="34" charset="-122"/>
                <a:cs typeface="Instrument Sans SemiBold" pitchFamily="34" charset="-120"/>
              </a:rPr>
              <a:t>AKTIVITET</a:t>
            </a:r>
            <a:r>
              <a:rPr lang="en-US" sz="1050" dirty="0">
                <a:solidFill>
                  <a:srgbClr val="3F3D3B"/>
                </a:solidFill>
                <a:latin typeface="Instrument Sans SemiBold" pitchFamily="34" charset="0"/>
                <a:ea typeface="Instrument Sans SemiBold" pitchFamily="34" charset="-122"/>
                <a:cs typeface="Instrument Sans SemiBold" pitchFamily="34" charset="-120"/>
              </a:rPr>
              <a:t> PRAKTIK</a:t>
            </a:r>
            <a:endParaRPr lang="en-US" sz="1050" dirty="0"/>
          </a:p>
        </p:txBody>
      </p:sp>
      <p:sp>
        <p:nvSpPr>
          <p:cNvPr id="16" name="Text 9"/>
          <p:cNvSpPr/>
          <p:nvPr/>
        </p:nvSpPr>
        <p:spPr>
          <a:xfrm>
            <a:off x="6377062" y="3012503"/>
            <a:ext cx="2270820" cy="906216"/>
          </a:xfrm>
          <a:prstGeom prst="rect">
            <a:avLst/>
          </a:prstGeom>
          <a:noFill/>
          <a:ln/>
        </p:spPr>
        <p:txBody>
          <a:bodyPr wrap="square" lIns="0" tIns="0" rIns="0" bIns="0" rtlCol="0" anchor="t">
            <a:noAutofit/>
          </a:bodyPr>
          <a:lstStyle/>
          <a:p>
            <a:pPr marL="0" indent="0" algn="l">
              <a:lnSpc>
                <a:spcPct val="127000"/>
              </a:lnSpc>
              <a:buNone/>
            </a:pPr>
            <a:r>
              <a:rPr lang="en-US" sz="1000" dirty="0">
                <a:solidFill>
                  <a:srgbClr val="3F3D3B"/>
                </a:solidFill>
                <a:latin typeface="Instrument Sans" pitchFamily="34" charset="0"/>
                <a:ea typeface="Instrument Sans" pitchFamily="34" charset="-122"/>
                <a:cs typeface="Instrument Sans" pitchFamily="34" charset="-120"/>
              </a:rPr>
              <a:t>Analizoni lulen e dardhës ose mollës dhe numëroni pjesët e saj sterile dhe fertile. Identifikoni thekët, pistilën, sepalet dhe petalet sipas diagramës anatomike të lules.</a:t>
            </a:r>
            <a:endParaRPr lang="en-US" sz="1000" dirty="0"/>
          </a:p>
        </p:txBody>
      </p:sp>
      <p:pic>
        <p:nvPicPr>
          <p:cNvPr id="17" name="Image 5" descr="preencoded.png"/>
          <p:cNvPicPr>
            <a:picLocks noChangeAspect="1"/>
          </p:cNvPicPr>
          <p:nvPr/>
        </p:nvPicPr>
        <p:blipFill>
          <a:blip r:embed="rId10"/>
          <a:stretch>
            <a:fillRect/>
          </a:stretch>
        </p:blipFill>
        <p:spPr>
          <a:xfrm>
            <a:off x="496119" y="4031753"/>
            <a:ext cx="8151763" cy="945095"/>
          </a:xfrm>
          <a:prstGeom prst="rect">
            <a:avLst/>
          </a:prstGeom>
        </p:spPr>
      </p:pic>
      <p:sp>
        <p:nvSpPr>
          <p:cNvPr id="18" name="Text 10"/>
          <p:cNvSpPr/>
          <p:nvPr/>
        </p:nvSpPr>
        <p:spPr>
          <a:xfrm>
            <a:off x="607740" y="4111712"/>
            <a:ext cx="7928521" cy="669693"/>
          </a:xfrm>
          <a:prstGeom prst="rect">
            <a:avLst/>
          </a:prstGeom>
          <a:noFill/>
          <a:ln/>
        </p:spPr>
        <p:txBody>
          <a:bodyPr wrap="square" lIns="0" tIns="0" rIns="0" bIns="0" rtlCol="0" anchor="t">
            <a:noAutofit/>
          </a:bodyPr>
          <a:lstStyle/>
          <a:p>
            <a:pPr marL="0" indent="0" algn="l">
              <a:lnSpc>
                <a:spcPct val="127000"/>
              </a:lnSpc>
              <a:buNone/>
            </a:pPr>
            <a:r>
              <a:rPr lang="en-US" sz="1050" b="1" dirty="0">
                <a:solidFill>
                  <a:srgbClr val="FFFFFF"/>
                </a:solidFill>
                <a:latin typeface="Instrument Sans" pitchFamily="34" charset="0"/>
                <a:ea typeface="Instrument Sans" pitchFamily="34" charset="-122"/>
                <a:cs typeface="Instrument Sans" pitchFamily="34" charset="-120"/>
              </a:rPr>
              <a:t>Shumimi është themeli i jetës.</a:t>
            </a:r>
            <a:r>
              <a:rPr lang="en-US" sz="1050" dirty="0">
                <a:solidFill>
                  <a:srgbClr val="FFFFFF"/>
                </a:solidFill>
                <a:latin typeface="Instrument Sans" pitchFamily="34" charset="0"/>
                <a:ea typeface="Instrument Sans" pitchFamily="34" charset="-122"/>
                <a:cs typeface="Instrument Sans" pitchFamily="34" charset="-120"/>
              </a:rPr>
              <a:t> Çdo organizëm ka mekanizmat e tij të sofistikuar për të krijuar pasardhës — nga stoloni i thjeshtë i dredhëzës deri te qesja embrionale me tetë bërthama e bimëve farëveshura. Kuptimi i këtyre proceseve hap dyert e biologjisë moderne dhe bioteknologjisë bimore.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1128</Words>
  <Application>Microsoft Office PowerPoint</Application>
  <PresentationFormat>On-screen Show (16:9)</PresentationFormat>
  <Paragraphs>84</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Instrument Sans SemiBold</vt:lpstr>
      <vt:lpstr>Arial</vt:lpstr>
      <vt:lpstr>Calibri</vt:lpstr>
      <vt:lpstr>Instrument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Blacksn0w</dc:creator>
  <cp:lastModifiedBy>Ardian Hyseni</cp:lastModifiedBy>
  <cp:revision>3</cp:revision>
  <dcterms:created xsi:type="dcterms:W3CDTF">2026-05-22T12:30:38Z</dcterms:created>
  <dcterms:modified xsi:type="dcterms:W3CDTF">2026-05-23T06:49:02Z</dcterms:modified>
</cp:coreProperties>
</file>