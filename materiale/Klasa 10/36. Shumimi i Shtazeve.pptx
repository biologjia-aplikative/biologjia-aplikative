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anrope" panose="020B0604020202020204" charset="0"/>
      <p:regular r:id="rId15"/>
    </p:embeddedFont>
    <p:embeddedFont>
      <p:font typeface="DM Sans Light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988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-3-6.svg"/><Relationship Id="rId12" Type="http://schemas.openxmlformats.org/officeDocument/2006/relationships/image" Target="../media/image-3-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-3-3.sv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-3-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-4-4.svg"/><Relationship Id="rId4" Type="http://schemas.openxmlformats.org/officeDocument/2006/relationships/image" Target="../media/image-4-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-6-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-6-5.svg"/><Relationship Id="rId4" Type="http://schemas.openxmlformats.org/officeDocument/2006/relationships/image" Target="../media/image-6-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0811"/>
            <a:ext cx="4722763" cy="1559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55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Shumimi i Shtazëve</a:t>
            </a:r>
            <a:endParaRPr lang="en-US" sz="5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3262833"/>
            <a:ext cx="782389" cy="3898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35576" y="201755"/>
            <a:ext cx="1271811" cy="243706"/>
          </a:xfrm>
          <a:prstGeom prst="roundRect">
            <a:avLst>
              <a:gd name="adj" fmla="val 41884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434591" y="244246"/>
            <a:ext cx="1558900" cy="15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SHUMIMI JOSEKSUAL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728582" y="201756"/>
            <a:ext cx="5398154" cy="4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50" dirty="0" err="1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Shumimi</a:t>
            </a:r>
            <a:r>
              <a:rPr lang="en-US" sz="275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</a:t>
            </a:r>
            <a:r>
              <a:rPr lang="en-US" sz="2750" dirty="0" err="1" smtClean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joseksual</a:t>
            </a:r>
            <a:r>
              <a:rPr lang="en-US" sz="2750" dirty="0" smtClean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</a:t>
            </a:r>
            <a:r>
              <a:rPr lang="en-US" sz="2750" dirty="0" err="1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te</a:t>
            </a:r>
            <a:r>
              <a:rPr lang="en-US" sz="275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</a:t>
            </a:r>
            <a:r>
              <a:rPr lang="en-US" sz="2750" dirty="0" err="1" smtClean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shtazët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195973" y="810555"/>
            <a:ext cx="5388149" cy="1158850"/>
          </a:xfrm>
          <a:prstGeom prst="roundRect">
            <a:avLst>
              <a:gd name="adj" fmla="val 11010"/>
            </a:avLst>
          </a:prstGeom>
          <a:solidFill>
            <a:srgbClr val="D4F7F5"/>
          </a:solidFill>
          <a:ln/>
        </p:spPr>
      </p:sp>
      <p:sp>
        <p:nvSpPr>
          <p:cNvPr id="7" name="Text 4"/>
          <p:cNvSpPr/>
          <p:nvPr/>
        </p:nvSpPr>
        <p:spPr>
          <a:xfrm>
            <a:off x="338478" y="906611"/>
            <a:ext cx="2921253" cy="262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Çfarë është shumimi joseksual?</a:t>
            </a:r>
            <a:endParaRPr lang="en-US" sz="1600" b="1" dirty="0"/>
          </a:p>
        </p:txBody>
      </p:sp>
      <p:sp>
        <p:nvSpPr>
          <p:cNvPr id="8" name="Text 5"/>
          <p:cNvSpPr/>
          <p:nvPr/>
        </p:nvSpPr>
        <p:spPr>
          <a:xfrm>
            <a:off x="335576" y="1168901"/>
            <a:ext cx="5143844" cy="800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Tek organizmat shumëqelizorë shumimi joseksual nënkupton zhvillimin e individit të ri në llogari të qelizave trupore. Haset te protozoarët dhe disa grupe te pakurrizorëve.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7018" y="2225761"/>
            <a:ext cx="5491181" cy="75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Mënyrat kryesore të shumimit joseksual te shtazët janë: </a:t>
            </a:r>
            <a:r>
              <a:rPr lang="en-US" sz="1400" b="1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ndarja</a:t>
            </a: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(te protistat dhe krimba), </a:t>
            </a:r>
            <a:r>
              <a:rPr lang="en-US" sz="1400" b="1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bulëzimi</a:t>
            </a: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(te Coelenteratat dhe Tunicatat) dhe </a:t>
            </a:r>
            <a:r>
              <a:rPr lang="en-US" sz="1400" b="1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formimi i gemulave</a:t>
            </a: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(te sfungjerët).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8478" y="2066292"/>
            <a:ext cx="19050" cy="914326"/>
          </a:xfrm>
          <a:prstGeom prst="rect">
            <a:avLst/>
          </a:prstGeom>
          <a:solidFill>
            <a:srgbClr val="28D3C9"/>
          </a:solidFill>
          <a:ln/>
        </p:spPr>
      </p:sp>
      <p:pic>
        <p:nvPicPr>
          <p:cNvPr id="11" name="Picture 1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200" y="657227"/>
            <a:ext cx="2692400" cy="1409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Explain the process of regeneration in Planaria. How is this process  different from reproduction?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832" y="2312619"/>
            <a:ext cx="2572768" cy="1680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Hydra reproduces by the mode of reproduction shown in the image below What  is the name of this mode ...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50" y="2983314"/>
            <a:ext cx="2692400" cy="20186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/>
          <p:cNvSpPr/>
          <p:nvPr/>
        </p:nvSpPr>
        <p:spPr>
          <a:xfrm>
            <a:off x="3298122" y="4250371"/>
            <a:ext cx="4572000" cy="32438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Riprodhimi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aseksual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a Euglena, b.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Planaria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c.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Hidra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2754" y="147189"/>
            <a:ext cx="1271811" cy="243706"/>
          </a:xfrm>
          <a:prstGeom prst="roundRect">
            <a:avLst>
              <a:gd name="adj" fmla="val 41884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328595" y="147189"/>
            <a:ext cx="1558900" cy="15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SHUMIMI JOSEKSUAL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59527" y="162331"/>
            <a:ext cx="5180112" cy="389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5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Forma </a:t>
            </a:r>
            <a:r>
              <a:rPr lang="en-US" sz="2750" dirty="0" err="1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të</a:t>
            </a:r>
            <a:r>
              <a:rPr lang="en-US" sz="275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</a:t>
            </a:r>
            <a:r>
              <a:rPr lang="en-US" sz="2750" dirty="0" err="1" smtClean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shumimit</a:t>
            </a:r>
            <a:r>
              <a:rPr lang="en-US" sz="2750" dirty="0" smtClean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</a:t>
            </a:r>
            <a:r>
              <a:rPr lang="en-US" sz="2750" dirty="0" err="1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j</a:t>
            </a:r>
            <a:r>
              <a:rPr lang="en-US" sz="2750" dirty="0" err="1" smtClean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oseksual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341461" y="969949"/>
            <a:ext cx="1772022" cy="19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Ndarja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3223" y="1287976"/>
            <a:ext cx="2722066" cy="127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Individi i ri krijohet prej pjesës relativisht të madhe të prindit. Indet dhe organet e diferencuara barten si të tilla në pasardhës. Haset te protistat dhe disa krimba shpatuke dhe unazorë.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786" y="1881932"/>
            <a:ext cx="2282428" cy="22824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18086" y="2069232"/>
            <a:ext cx="354360" cy="354360"/>
          </a:xfrm>
          <a:prstGeom prst="roundRect">
            <a:avLst>
              <a:gd name="adj" fmla="val 1611154"/>
            </a:avLst>
          </a:prstGeom>
          <a:solidFill>
            <a:srgbClr val="7FFFD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15494" y="2166640"/>
            <a:ext cx="159469" cy="1594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8041" y="1026380"/>
            <a:ext cx="1772022" cy="19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Bulëzimi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900514" y="1373031"/>
            <a:ext cx="2722066" cy="113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Individi i ri krijohet prej një zgjatimi të sipërfaqes së trupit të prindit. Asnjë organ i prindit nuk kalon si i tillë në pasardhës. Nëse bula nuk ndahet, formohet kolonia.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0786" y="1881932"/>
            <a:ext cx="2282428" cy="228242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171480" y="2069232"/>
            <a:ext cx="354360" cy="354360"/>
          </a:xfrm>
          <a:prstGeom prst="roundRect">
            <a:avLst>
              <a:gd name="adj" fmla="val 1611154"/>
            </a:avLst>
          </a:prstGeom>
          <a:solidFill>
            <a:srgbClr val="28D3C9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268888" y="2166640"/>
            <a:ext cx="159469" cy="1594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25815" y="3228677"/>
            <a:ext cx="1772022" cy="19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Formimi i Gemulave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713214" y="3508623"/>
            <a:ext cx="2934667" cy="1321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Organizmi i ri krijohet prej grupit të qelizave që ndahen prej trupit të nënës. Zhvillimi i individit të ri rrjedhë pavarësisht nga trupi i prindit. Haset te sfungjerët.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0786" y="1881932"/>
            <a:ext cx="2282428" cy="228242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171480" y="3622625"/>
            <a:ext cx="354360" cy="354360"/>
          </a:xfrm>
          <a:prstGeom prst="roundRect">
            <a:avLst>
              <a:gd name="adj" fmla="val 1611154"/>
            </a:avLst>
          </a:prstGeom>
          <a:solidFill>
            <a:srgbClr val="6F8F99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268888" y="3720033"/>
            <a:ext cx="159469" cy="15946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6453" y="3177369"/>
            <a:ext cx="1772022" cy="19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Shembuj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496118" y="3508623"/>
            <a:ext cx="2747293" cy="1321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Riprodhimi aseksual haset te: </a:t>
            </a:r>
            <a:r>
              <a:rPr lang="en-US" sz="1400" b="1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Euglena</a:t>
            </a: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(ndarja), </a:t>
            </a:r>
            <a:r>
              <a:rPr lang="en-US" sz="1400" b="1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Planaria</a:t>
            </a: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(rigjenerimi), dhe </a:t>
            </a:r>
            <a:r>
              <a:rPr lang="en-US" sz="1400" b="1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Hidra</a:t>
            </a: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(bulëzimi). Secila specie përdor mekanizëm të veçantë.</a:t>
            </a:r>
            <a:endParaRPr lang="en-US" sz="14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0786" y="1881932"/>
            <a:ext cx="2282428" cy="2282428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3618086" y="3622625"/>
            <a:ext cx="354360" cy="354360"/>
          </a:xfrm>
          <a:prstGeom prst="roundRect">
            <a:avLst>
              <a:gd name="adj" fmla="val 1611154"/>
            </a:avLst>
          </a:prstGeom>
          <a:solidFill>
            <a:srgbClr val="2F4F4F"/>
          </a:solidFill>
          <a:ln/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3715494" y="3720033"/>
            <a:ext cx="159469" cy="1594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8596" y="140196"/>
            <a:ext cx="1137270" cy="243706"/>
          </a:xfrm>
          <a:prstGeom prst="roundRect">
            <a:avLst>
              <a:gd name="adj" fmla="val 41884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418467" y="182687"/>
            <a:ext cx="1424360" cy="15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SHUMIMI SEKSUAL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47844" y="140196"/>
            <a:ext cx="6119887" cy="389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50" dirty="0" err="1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Shumimi</a:t>
            </a:r>
            <a:r>
              <a:rPr lang="en-US" sz="275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</a:t>
            </a:r>
            <a:r>
              <a:rPr lang="en-US" sz="2750" dirty="0" err="1" smtClean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seksual</a:t>
            </a:r>
            <a:r>
              <a:rPr lang="en-US" sz="2750" dirty="0" smtClean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</a:t>
            </a:r>
            <a:r>
              <a:rPr lang="en-US" sz="275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&amp; Gametogjeneza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205791" y="611348"/>
            <a:ext cx="6872083" cy="1215554"/>
          </a:xfrm>
          <a:prstGeom prst="roundRect">
            <a:avLst>
              <a:gd name="adj" fmla="val 10497"/>
            </a:avLst>
          </a:prstGeom>
          <a:solidFill>
            <a:srgbClr val="D4F7F5"/>
          </a:solidFill>
          <a:ln/>
        </p:spPr>
      </p:sp>
      <p:sp>
        <p:nvSpPr>
          <p:cNvPr id="6" name="Text 4"/>
          <p:cNvSpPr/>
          <p:nvPr/>
        </p:nvSpPr>
        <p:spPr>
          <a:xfrm>
            <a:off x="418466" y="632898"/>
            <a:ext cx="1884983" cy="260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Shumimi Seksual</a:t>
            </a:r>
            <a:endParaRPr lang="en-US" sz="1600" b="1" dirty="0"/>
          </a:p>
        </p:txBody>
      </p:sp>
      <p:sp>
        <p:nvSpPr>
          <p:cNvPr id="7" name="Text 5"/>
          <p:cNvSpPr/>
          <p:nvPr/>
        </p:nvSpPr>
        <p:spPr>
          <a:xfrm>
            <a:off x="297582" y="855451"/>
            <a:ext cx="6668610" cy="938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Shumica e llojeve të organizmave shtazorë krijohen me shumim seksual. Bashkimi i gametit mashkullor (spermatozoidit) me gametin femëror (qelizën vezë) krijon organizmin e ri — </a:t>
            </a:r>
            <a:r>
              <a:rPr lang="en-US" sz="1400" b="1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zigotën</a:t>
            </a:r>
            <a:r>
              <a:rPr lang="en-US" sz="14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me numër diploid (2n) të kromozomeve.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49709" y="646859"/>
            <a:ext cx="1353592" cy="1830635"/>
          </a:xfrm>
          <a:prstGeom prst="roundRect">
            <a:avLst>
              <a:gd name="adj" fmla="val 9426"/>
            </a:avLst>
          </a:prstGeom>
          <a:solidFill>
            <a:srgbClr val="6F8F99"/>
          </a:solidFill>
          <a:ln/>
        </p:spPr>
      </p:sp>
      <p:sp>
        <p:nvSpPr>
          <p:cNvPr id="9" name="Text 7"/>
          <p:cNvSpPr/>
          <p:nvPr/>
        </p:nvSpPr>
        <p:spPr>
          <a:xfrm>
            <a:off x="7395456" y="715825"/>
            <a:ext cx="1070074" cy="1999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Organizmat me seks të diferencuar quhen </a:t>
            </a:r>
            <a:r>
              <a:rPr lang="en-US" sz="1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gonohoristë</a:t>
            </a: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Organizmat me gonada të dyja quhen </a:t>
            </a:r>
            <a:r>
              <a:rPr lang="en-US" sz="1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hermafroditë</a:t>
            </a:r>
            <a:r>
              <a:rPr lang="en-US" sz="10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2949" y="2567774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D4F7F5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2609996"/>
            <a:ext cx="212601" cy="21260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15058" y="2606086"/>
            <a:ext cx="1772022" cy="19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Gametogjeneza</a:t>
            </a:r>
            <a:endParaRPr lang="en-US" sz="1350" b="1" dirty="0"/>
          </a:p>
        </p:txBody>
      </p:sp>
      <p:sp>
        <p:nvSpPr>
          <p:cNvPr id="13" name="Text 10"/>
          <p:cNvSpPr/>
          <p:nvPr/>
        </p:nvSpPr>
        <p:spPr>
          <a:xfrm>
            <a:off x="472307" y="2896763"/>
            <a:ext cx="2138437" cy="2156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Gametogjeneza është proces i krijimit të qelizave seksuale të pjekura — gameteve. </a:t>
            </a:r>
            <a:endParaRPr lang="en-US" sz="1200" dirty="0" smtClean="0">
              <a:solidFill>
                <a:srgbClr val="272525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200" dirty="0" err="1" smtClean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Gametet</a:t>
            </a:r>
            <a:r>
              <a:rPr lang="en-US" sz="1200" dirty="0" smtClean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2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krijohen me mejozë dhe kanë garniturë haploide të kromozomeve. </a:t>
            </a:r>
            <a:endParaRPr lang="en-US" sz="1200" dirty="0" smtClean="0">
              <a:solidFill>
                <a:srgbClr val="272525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200" dirty="0" err="1" smtClean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</a:t>
            </a:r>
            <a:r>
              <a:rPr lang="en-US" sz="1200" dirty="0" smtClean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2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shtazët, spermatozoidet krijohen në </a:t>
            </a:r>
            <a:r>
              <a:rPr lang="en-US" sz="1200" b="1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farorë (testis)</a:t>
            </a:r>
            <a:r>
              <a:rPr lang="en-US" sz="12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ndërsa qelizat vezë në </a:t>
            </a:r>
            <a:r>
              <a:rPr lang="en-US" sz="1200" b="1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vezore (ovarium)</a:t>
            </a:r>
            <a:r>
              <a:rPr lang="en-US" sz="12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5729" y="2571961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D4F7F5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808184" y="2609996"/>
            <a:ext cx="212601" cy="2126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02929" y="2605505"/>
            <a:ext cx="2138437" cy="38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Rëndësia e </a:t>
            </a:r>
            <a:r>
              <a:rPr lang="en-US" sz="1400" b="1" dirty="0" err="1" smtClean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shumimit</a:t>
            </a:r>
            <a:r>
              <a:rPr lang="en-US" sz="1400" b="1" dirty="0" smtClean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 </a:t>
            </a:r>
            <a:r>
              <a:rPr lang="en-US" sz="1400" b="1" dirty="0" err="1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</a:t>
            </a:r>
            <a:r>
              <a:rPr lang="en-US" sz="1400" b="1" dirty="0" err="1" smtClean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eksual</a:t>
            </a:r>
            <a:endParaRPr lang="en-US" sz="1400" b="1" dirty="0"/>
          </a:p>
        </p:txBody>
      </p:sp>
      <p:sp>
        <p:nvSpPr>
          <p:cNvPr id="17" name="Text 13"/>
          <p:cNvSpPr/>
          <p:nvPr/>
        </p:nvSpPr>
        <p:spPr>
          <a:xfrm>
            <a:off x="3030178" y="3020391"/>
            <a:ext cx="2138437" cy="1767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Rëndësia e shumimit seksual rezulton në mundësinë e krijimit të llojllojshmërisë së madhe të pasardhësve, duke siguruar variabilitetin gjenetik thelbësor për evolucionin.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241366" y="2567773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D4F7F5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6169" y="2627590"/>
            <a:ext cx="212601" cy="21260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23434" y="2645301"/>
            <a:ext cx="1772022" cy="19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Gametet dhe Mejoza</a:t>
            </a:r>
            <a:endParaRPr lang="en-US" sz="1400" b="1" dirty="0"/>
          </a:p>
        </p:txBody>
      </p:sp>
      <p:sp>
        <p:nvSpPr>
          <p:cNvPr id="21" name="Text 16"/>
          <p:cNvSpPr/>
          <p:nvPr/>
        </p:nvSpPr>
        <p:spPr>
          <a:xfrm>
            <a:off x="5588049" y="3042577"/>
            <a:ext cx="2138437" cy="1466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Fjala gametogjenezë rrjedhë prej fjalës greke </a:t>
            </a:r>
            <a:r>
              <a:rPr lang="en-US" sz="1200" i="1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gametos</a:t>
            </a:r>
            <a:r>
              <a:rPr lang="en-US" sz="12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bashkëshortësi. Organizmat për krijimin e gameteve të tyre kanë organet seksuale specifike.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456" y="133313"/>
            <a:ext cx="1109588" cy="243706"/>
          </a:xfrm>
          <a:prstGeom prst="roundRect">
            <a:avLst>
              <a:gd name="adj" fmla="val 41884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399008" y="175803"/>
            <a:ext cx="1396678" cy="15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GAMETOGJENEZA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75765" y="70493"/>
            <a:ext cx="5422850" cy="389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5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Spermatogjeneza &amp; Oogjeneza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77456" y="713054"/>
            <a:ext cx="1772022" cy="19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Spermatogjeneza</a:t>
            </a:r>
            <a:endParaRPr lang="en-US" sz="1350" b="1" dirty="0"/>
          </a:p>
        </p:txBody>
      </p:sp>
      <p:sp>
        <p:nvSpPr>
          <p:cNvPr id="7" name="Text 4"/>
          <p:cNvSpPr/>
          <p:nvPr/>
        </p:nvSpPr>
        <p:spPr>
          <a:xfrm>
            <a:off x="187477" y="958955"/>
            <a:ext cx="2599134" cy="318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7000"/>
              </a:lnSpc>
            </a:pPr>
            <a:r>
              <a:rPr lang="en-US" sz="1200" dirty="0" err="1" smtClean="0"/>
              <a:t>Spermatogjeneza</a:t>
            </a:r>
            <a:r>
              <a:rPr lang="en-US" sz="1200" dirty="0" smtClean="0"/>
              <a:t> </a:t>
            </a:r>
            <a:r>
              <a:rPr lang="en-US" sz="1200" dirty="0" err="1" smtClean="0"/>
              <a:t>është</a:t>
            </a:r>
            <a:r>
              <a:rPr lang="en-US" sz="1200" dirty="0" smtClean="0"/>
              <a:t> </a:t>
            </a:r>
            <a:r>
              <a:rPr lang="en-US" sz="1200" dirty="0" err="1" smtClean="0"/>
              <a:t>proces</a:t>
            </a:r>
            <a:r>
              <a:rPr lang="en-US" sz="1200" dirty="0" smtClean="0"/>
              <a:t> </a:t>
            </a:r>
            <a:r>
              <a:rPr lang="en-US" sz="1200" dirty="0" err="1" smtClean="0"/>
              <a:t>i</a:t>
            </a:r>
            <a:r>
              <a:rPr lang="en-US" sz="1200" dirty="0" smtClean="0"/>
              <a:t> </a:t>
            </a:r>
            <a:r>
              <a:rPr lang="en-US" sz="1200" dirty="0" err="1" smtClean="0"/>
              <a:t>krijimit</a:t>
            </a:r>
            <a:r>
              <a:rPr lang="en-US" sz="1200" dirty="0" smtClean="0"/>
              <a:t> </a:t>
            </a:r>
            <a:r>
              <a:rPr lang="en-US" sz="1200" dirty="0" err="1" smtClean="0"/>
              <a:t>të</a:t>
            </a:r>
            <a:r>
              <a:rPr lang="en-US" sz="1200" dirty="0" smtClean="0"/>
              <a:t> </a:t>
            </a:r>
            <a:r>
              <a:rPr lang="en-US" sz="1200" dirty="0" err="1" smtClean="0"/>
              <a:t>qelizave</a:t>
            </a:r>
            <a:r>
              <a:rPr lang="en-US" sz="1200" dirty="0" smtClean="0"/>
              <a:t> </a:t>
            </a:r>
            <a:r>
              <a:rPr lang="en-US" sz="1200" dirty="0" err="1" smtClean="0"/>
              <a:t>seksuale</a:t>
            </a:r>
            <a:r>
              <a:rPr lang="en-US" sz="1200" dirty="0" smtClean="0"/>
              <a:t> </a:t>
            </a:r>
            <a:r>
              <a:rPr lang="en-US" sz="1200" dirty="0" err="1" smtClean="0"/>
              <a:t>mashkullore</a:t>
            </a:r>
            <a:r>
              <a:rPr lang="en-US" sz="1200" dirty="0" smtClean="0"/>
              <a:t> </a:t>
            </a:r>
            <a:r>
              <a:rPr lang="en-US" sz="1200" dirty="0" err="1" smtClean="0"/>
              <a:t>spermatozoideve</a:t>
            </a:r>
            <a:r>
              <a:rPr lang="en-US" sz="1200" dirty="0" smtClean="0"/>
              <a:t>, </a:t>
            </a:r>
            <a:r>
              <a:rPr lang="en-US" sz="1200" dirty="0" err="1" smtClean="0"/>
              <a:t>dhe</a:t>
            </a:r>
            <a:r>
              <a:rPr lang="en-US" sz="1200" dirty="0" smtClean="0"/>
              <a:t> </a:t>
            </a:r>
            <a:r>
              <a:rPr lang="en-US" sz="1200" dirty="0" err="1" smtClean="0"/>
              <a:t>rrjedh</a:t>
            </a:r>
            <a:r>
              <a:rPr lang="en-US" sz="1200" dirty="0" smtClean="0"/>
              <a:t> </a:t>
            </a:r>
            <a:r>
              <a:rPr lang="en-US" sz="1200" dirty="0" err="1" smtClean="0"/>
              <a:t>në</a:t>
            </a:r>
            <a:r>
              <a:rPr lang="en-US" sz="1200" dirty="0" smtClean="0"/>
              <a:t> </a:t>
            </a:r>
            <a:r>
              <a:rPr lang="en-US" sz="1200" dirty="0" err="1" smtClean="0"/>
              <a:t>kanalthet</a:t>
            </a:r>
            <a:r>
              <a:rPr lang="en-US" sz="1200" dirty="0" smtClean="0"/>
              <a:t> e </a:t>
            </a:r>
            <a:r>
              <a:rPr lang="en-US" sz="1200" dirty="0" err="1" smtClean="0"/>
              <a:t>farorëve</a:t>
            </a:r>
            <a:r>
              <a:rPr lang="en-US" sz="1200" dirty="0" smtClean="0"/>
              <a:t> (</a:t>
            </a:r>
            <a:r>
              <a:rPr lang="en-US" sz="1200" dirty="0" err="1" smtClean="0"/>
              <a:t>testiseve</a:t>
            </a:r>
            <a:r>
              <a:rPr lang="en-US" sz="1200" dirty="0" smtClean="0"/>
              <a:t>) </a:t>
            </a:r>
            <a:r>
              <a:rPr lang="en-US" sz="1200" dirty="0" err="1" smtClean="0"/>
              <a:t>të</a:t>
            </a:r>
            <a:r>
              <a:rPr lang="en-US" sz="1200" dirty="0" smtClean="0"/>
              <a:t> </a:t>
            </a:r>
            <a:r>
              <a:rPr lang="en-US" sz="1200" dirty="0" err="1" smtClean="0"/>
              <a:t>mashkullit</a:t>
            </a:r>
            <a:r>
              <a:rPr lang="en-US" sz="1200" dirty="0" smtClean="0"/>
              <a:t> </a:t>
            </a:r>
            <a:r>
              <a:rPr lang="en-US" sz="1200" dirty="0" err="1" smtClean="0"/>
              <a:t>seksualisht</a:t>
            </a:r>
            <a:r>
              <a:rPr lang="en-US" sz="1200" dirty="0" smtClean="0"/>
              <a:t> </a:t>
            </a:r>
            <a:r>
              <a:rPr lang="en-US" sz="1200" dirty="0" err="1" smtClean="0"/>
              <a:t>të</a:t>
            </a:r>
            <a:r>
              <a:rPr lang="en-US" sz="1200" dirty="0" smtClean="0"/>
              <a:t> </a:t>
            </a:r>
            <a:r>
              <a:rPr lang="en-US" sz="1200" dirty="0" err="1" smtClean="0"/>
              <a:t>pjekur</a:t>
            </a:r>
            <a:r>
              <a:rPr lang="en-US" sz="1200" dirty="0" smtClean="0"/>
              <a:t>.</a:t>
            </a:r>
          </a:p>
          <a:p>
            <a:pPr>
              <a:lnSpc>
                <a:spcPct val="117000"/>
              </a:lnSpc>
            </a:pPr>
            <a:r>
              <a:rPr lang="en-US" sz="1200" dirty="0" err="1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Proces</a:t>
            </a:r>
            <a:r>
              <a:rPr lang="en-US" sz="1200" dirty="0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 </a:t>
            </a:r>
            <a:r>
              <a:rPr lang="en-US" sz="1200" dirty="0" err="1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i</a:t>
            </a:r>
            <a:r>
              <a:rPr lang="en-US" sz="1200" dirty="0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 </a:t>
            </a:r>
            <a:r>
              <a:rPr lang="en-US" sz="1200" dirty="0" err="1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krijimit</a:t>
            </a:r>
            <a:r>
              <a:rPr lang="en-US" sz="1200" dirty="0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 </a:t>
            </a:r>
            <a:r>
              <a:rPr lang="en-US" sz="1200" dirty="0" err="1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të</a:t>
            </a:r>
            <a:r>
              <a:rPr lang="en-US" sz="1200" dirty="0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 </a:t>
            </a:r>
            <a:r>
              <a:rPr lang="en-US" sz="1200" dirty="0" err="1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spermatozoideve</a:t>
            </a:r>
            <a:r>
              <a:rPr lang="en-US" sz="1200" dirty="0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 </a:t>
            </a:r>
            <a:r>
              <a:rPr lang="en-US" sz="1200" dirty="0" err="1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në</a:t>
            </a:r>
            <a:r>
              <a:rPr lang="en-US" sz="1200" dirty="0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 </a:t>
            </a:r>
            <a:r>
              <a:rPr lang="en-US" sz="1200" dirty="0" err="1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kanalthe</a:t>
            </a:r>
            <a:r>
              <a:rPr lang="en-US" sz="1200" dirty="0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 e </a:t>
            </a:r>
            <a:r>
              <a:rPr lang="en-US" sz="1200" dirty="0" err="1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farorëve</a:t>
            </a:r>
            <a:r>
              <a:rPr lang="en-US" sz="1200" dirty="0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. </a:t>
            </a:r>
          </a:p>
          <a:p>
            <a:pPr>
              <a:lnSpc>
                <a:spcPct val="117000"/>
              </a:lnSpc>
            </a:pPr>
            <a:r>
              <a:rPr lang="en-US" sz="1200" dirty="0" err="1" smtClean="0"/>
              <a:t>Spermatozoidet</a:t>
            </a:r>
            <a:r>
              <a:rPr lang="en-US" sz="1200" dirty="0" smtClean="0"/>
              <a:t> </a:t>
            </a:r>
            <a:r>
              <a:rPr lang="en-US" sz="1200" dirty="0" err="1"/>
              <a:t>janë</a:t>
            </a:r>
            <a:r>
              <a:rPr lang="en-US" sz="1200" dirty="0"/>
              <a:t> </a:t>
            </a:r>
            <a:r>
              <a:rPr lang="en-US" sz="1200" dirty="0" err="1"/>
              <a:t>qeliza</a:t>
            </a:r>
            <a:r>
              <a:rPr lang="en-US" sz="1200" dirty="0"/>
              <a:t> </a:t>
            </a:r>
            <a:r>
              <a:rPr lang="en-US" sz="1200" dirty="0" err="1"/>
              <a:t>të</a:t>
            </a:r>
            <a:r>
              <a:rPr lang="en-US" sz="1200" dirty="0"/>
              <a:t> </a:t>
            </a:r>
            <a:r>
              <a:rPr lang="en-US" sz="1200" dirty="0" err="1"/>
              <a:t>vogla</a:t>
            </a:r>
            <a:r>
              <a:rPr lang="en-US" sz="1200" dirty="0"/>
              <a:t>, me </a:t>
            </a:r>
            <a:r>
              <a:rPr lang="en-US" sz="1200" dirty="0" err="1"/>
              <a:t>forme</a:t>
            </a:r>
            <a:r>
              <a:rPr lang="en-US" sz="1200" dirty="0"/>
              <a:t> </a:t>
            </a:r>
            <a:r>
              <a:rPr lang="en-US" sz="1200" dirty="0" err="1"/>
              <a:t>dhe</a:t>
            </a:r>
            <a:r>
              <a:rPr lang="en-US" sz="1200" dirty="0"/>
              <a:t> </a:t>
            </a:r>
            <a:r>
              <a:rPr lang="en-US" sz="1200" dirty="0" err="1"/>
              <a:t>ndërtim</a:t>
            </a:r>
            <a:r>
              <a:rPr lang="en-US" sz="1200" dirty="0"/>
              <a:t> </a:t>
            </a:r>
            <a:r>
              <a:rPr lang="en-US" sz="1200" dirty="0" err="1"/>
              <a:t>specifik</a:t>
            </a:r>
            <a:r>
              <a:rPr lang="en-US" sz="1200" dirty="0"/>
              <a:t> </a:t>
            </a:r>
            <a:r>
              <a:rPr lang="en-US" sz="1200" dirty="0" err="1"/>
              <a:t>dhe</a:t>
            </a:r>
            <a:r>
              <a:rPr lang="en-US" sz="1200" dirty="0"/>
              <a:t> </a:t>
            </a:r>
            <a:r>
              <a:rPr lang="en-US" sz="1200" dirty="0" err="1"/>
              <a:t>kanë</a:t>
            </a:r>
            <a:r>
              <a:rPr lang="en-US" sz="1200" dirty="0"/>
              <a:t> </a:t>
            </a:r>
            <a:r>
              <a:rPr lang="en-US" sz="1200" dirty="0" err="1"/>
              <a:t>jetë</a:t>
            </a:r>
            <a:r>
              <a:rPr lang="en-US" sz="1200" dirty="0"/>
              <a:t> </a:t>
            </a:r>
            <a:r>
              <a:rPr lang="en-US" sz="1200" dirty="0" err="1"/>
              <a:t>të</a:t>
            </a:r>
            <a:r>
              <a:rPr lang="en-US" sz="1200" dirty="0"/>
              <a:t> </a:t>
            </a:r>
            <a:r>
              <a:rPr lang="en-US" sz="1200" dirty="0" err="1"/>
              <a:t>shkurtër</a:t>
            </a:r>
            <a:r>
              <a:rPr lang="en-US" sz="1200" dirty="0"/>
              <a:t>. </a:t>
            </a:r>
            <a:r>
              <a:rPr lang="en-US" sz="1200" dirty="0" err="1"/>
              <a:t>Roli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spermatozoidit</a:t>
            </a:r>
            <a:r>
              <a:rPr lang="en-US" sz="1200" dirty="0"/>
              <a:t> </a:t>
            </a:r>
            <a:r>
              <a:rPr lang="en-US" sz="1200" dirty="0" err="1"/>
              <a:t>është</a:t>
            </a:r>
            <a:r>
              <a:rPr lang="en-US" sz="1200" dirty="0"/>
              <a:t> </a:t>
            </a:r>
            <a:r>
              <a:rPr lang="en-US" sz="1200" dirty="0" err="1"/>
              <a:t>të</a:t>
            </a:r>
            <a:r>
              <a:rPr lang="en-US" sz="1200" dirty="0"/>
              <a:t> </a:t>
            </a:r>
            <a:r>
              <a:rPr lang="en-US" sz="1200" dirty="0" err="1"/>
              <a:t>lëvizë</a:t>
            </a:r>
            <a:r>
              <a:rPr lang="en-US" sz="1200" dirty="0"/>
              <a:t> </a:t>
            </a:r>
            <a:r>
              <a:rPr lang="en-US" sz="1200" dirty="0" err="1"/>
              <a:t>deri</a:t>
            </a:r>
            <a:r>
              <a:rPr lang="en-US" sz="1200" dirty="0"/>
              <a:t> </a:t>
            </a:r>
            <a:r>
              <a:rPr lang="en-US" sz="1200" dirty="0" err="1"/>
              <a:t>te</a:t>
            </a:r>
            <a:r>
              <a:rPr lang="en-US" sz="1200" dirty="0"/>
              <a:t> </a:t>
            </a:r>
            <a:r>
              <a:rPr lang="en-US" sz="1200" dirty="0" err="1"/>
              <a:t>qeliza</a:t>
            </a:r>
            <a:r>
              <a:rPr lang="en-US" sz="1200" dirty="0"/>
              <a:t> </a:t>
            </a:r>
            <a:r>
              <a:rPr lang="en-US" sz="1200" dirty="0" err="1"/>
              <a:t>vezë</a:t>
            </a:r>
            <a:r>
              <a:rPr lang="en-US" sz="1200" dirty="0"/>
              <a:t>, </a:t>
            </a:r>
            <a:r>
              <a:rPr lang="en-US" sz="1200" dirty="0" err="1"/>
              <a:t>të</a:t>
            </a:r>
            <a:r>
              <a:rPr lang="en-US" sz="1200" dirty="0"/>
              <a:t> </a:t>
            </a:r>
            <a:r>
              <a:rPr lang="en-US" sz="1200" dirty="0" err="1"/>
              <a:t>bashkohet</a:t>
            </a:r>
            <a:r>
              <a:rPr lang="en-US" sz="1200" dirty="0"/>
              <a:t> me </a:t>
            </a:r>
            <a:r>
              <a:rPr lang="en-US" sz="1200" dirty="0" err="1"/>
              <a:t>sipërfaqen</a:t>
            </a:r>
            <a:r>
              <a:rPr lang="en-US" sz="1200" dirty="0"/>
              <a:t> e </a:t>
            </a:r>
            <a:r>
              <a:rPr lang="en-US" sz="1200" dirty="0" err="1"/>
              <a:t>kësaj</a:t>
            </a:r>
            <a:r>
              <a:rPr lang="en-US" sz="1200" dirty="0"/>
              <a:t> </a:t>
            </a:r>
            <a:r>
              <a:rPr lang="en-US" sz="1200" dirty="0" err="1"/>
              <a:t>qelize</a:t>
            </a:r>
            <a:r>
              <a:rPr lang="en-US" sz="1200" dirty="0"/>
              <a:t> </a:t>
            </a:r>
            <a:r>
              <a:rPr lang="en-US" sz="1200" dirty="0" err="1"/>
              <a:t>dhe</a:t>
            </a:r>
            <a:r>
              <a:rPr lang="en-US" sz="1200" dirty="0"/>
              <a:t> </a:t>
            </a:r>
            <a:r>
              <a:rPr lang="en-US" sz="1200" dirty="0" err="1"/>
              <a:t>të</a:t>
            </a:r>
            <a:r>
              <a:rPr lang="en-US" sz="1200" dirty="0"/>
              <a:t> </a:t>
            </a:r>
            <a:r>
              <a:rPr lang="en-US" sz="1200" dirty="0" err="1"/>
              <a:t>barte</a:t>
            </a:r>
            <a:r>
              <a:rPr lang="en-US" sz="1200" dirty="0"/>
              <a:t> </a:t>
            </a:r>
            <a:r>
              <a:rPr lang="en-US" sz="1200" dirty="0" err="1"/>
              <a:t>bërthamën</a:t>
            </a:r>
            <a:r>
              <a:rPr lang="en-US" sz="1200" dirty="0"/>
              <a:t> </a:t>
            </a:r>
            <a:r>
              <a:rPr lang="en-US" sz="1200" dirty="0" err="1"/>
              <a:t>dhe</a:t>
            </a:r>
            <a:r>
              <a:rPr lang="en-US" sz="1200" dirty="0"/>
              <a:t> </a:t>
            </a:r>
            <a:r>
              <a:rPr lang="en-US" sz="1200" dirty="0" err="1"/>
              <a:t>centriolet</a:t>
            </a:r>
            <a:r>
              <a:rPr lang="en-US" sz="1200" dirty="0"/>
              <a:t> e </a:t>
            </a:r>
            <a:r>
              <a:rPr lang="en-US" sz="1200" dirty="0" err="1"/>
              <a:t>tij</a:t>
            </a:r>
            <a:r>
              <a:rPr lang="en-US" sz="1200" dirty="0"/>
              <a:t> </a:t>
            </a:r>
            <a:r>
              <a:rPr lang="en-US" sz="1200" dirty="0" err="1"/>
              <a:t>në</a:t>
            </a:r>
            <a:r>
              <a:rPr lang="en-US" sz="1200" dirty="0"/>
              <a:t> </a:t>
            </a:r>
            <a:r>
              <a:rPr lang="en-US" sz="1200" dirty="0" err="1"/>
              <a:t>qelizën</a:t>
            </a:r>
            <a:r>
              <a:rPr lang="en-US" sz="1200" dirty="0"/>
              <a:t> </a:t>
            </a:r>
            <a:r>
              <a:rPr lang="en-US" sz="1200" dirty="0" err="1"/>
              <a:t>vezë</a:t>
            </a:r>
            <a:r>
              <a:rPr lang="en-US" sz="1200" dirty="0"/>
              <a:t>. </a:t>
            </a:r>
          </a:p>
        </p:txBody>
      </p:sp>
      <p:sp>
        <p:nvSpPr>
          <p:cNvPr id="12" name="Text 7"/>
          <p:cNvSpPr/>
          <p:nvPr/>
        </p:nvSpPr>
        <p:spPr>
          <a:xfrm>
            <a:off x="6202311" y="514761"/>
            <a:ext cx="1925687" cy="19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Pjesët e Spermatozoidit</a:t>
            </a:r>
            <a:endParaRPr lang="en-US" sz="1400" b="1" dirty="0"/>
          </a:p>
        </p:txBody>
      </p:sp>
      <p:sp>
        <p:nvSpPr>
          <p:cNvPr id="13" name="Text 8"/>
          <p:cNvSpPr/>
          <p:nvPr/>
        </p:nvSpPr>
        <p:spPr>
          <a:xfrm>
            <a:off x="5800507" y="763887"/>
            <a:ext cx="3081807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Koka (bërthamë + akrozom) → Qafë → Pjesa e mesme (mitokondrie me ATP) → Bishti. </a:t>
            </a:r>
            <a:endParaRPr lang="en-US" sz="1100" dirty="0" smtClean="0">
              <a:solidFill>
                <a:srgbClr val="272525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dirty="0" err="1" smtClean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Spermatozoidet</a:t>
            </a:r>
            <a:r>
              <a:rPr lang="en-US" sz="1100" dirty="0" smtClean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1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bartin materialin trashëgues të babës dhe aktivizojnë qelizën vezë për zhvillim.</a:t>
            </a:r>
            <a:endParaRPr lang="en-US" sz="1100" dirty="0"/>
          </a:p>
        </p:txBody>
      </p:sp>
      <p:pic>
        <p:nvPicPr>
          <p:cNvPr id="14" name="Picture 1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917" y="474308"/>
            <a:ext cx="2571750" cy="3689350"/>
          </a:xfrm>
          <a:prstGeom prst="rect">
            <a:avLst/>
          </a:prstGeom>
        </p:spPr>
      </p:pic>
      <p:pic>
        <p:nvPicPr>
          <p:cNvPr id="15" name="Picture 14" descr="How is the body of a sperm suited for fertilization of an egg? | Socratic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973" y="1579278"/>
            <a:ext cx="3031743" cy="1630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Spermatogenesis | Description &amp; Process | Britannica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601" y="3264498"/>
            <a:ext cx="2686050" cy="1798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/>
        </p:nvSpPr>
        <p:spPr>
          <a:xfrm>
            <a:off x="659651" y="329509"/>
            <a:ext cx="1772022" cy="19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Oogjeneza</a:t>
            </a:r>
            <a:endParaRPr lang="en-US" sz="1350" b="1" dirty="0"/>
          </a:p>
        </p:txBody>
      </p:sp>
      <p:sp>
        <p:nvSpPr>
          <p:cNvPr id="3" name="Text 6"/>
          <p:cNvSpPr/>
          <p:nvPr/>
        </p:nvSpPr>
        <p:spPr>
          <a:xfrm>
            <a:off x="403589" y="780189"/>
            <a:ext cx="4077669" cy="2418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7000"/>
              </a:lnSpc>
            </a:pPr>
            <a:r>
              <a:rPr lang="en-US" sz="1300" dirty="0" err="1"/>
              <a:t>Oogjeneza</a:t>
            </a:r>
            <a:r>
              <a:rPr lang="en-US" sz="1300" dirty="0"/>
              <a:t> </a:t>
            </a:r>
            <a:r>
              <a:rPr lang="en-US" sz="1300" dirty="0" err="1"/>
              <a:t>është</a:t>
            </a:r>
            <a:r>
              <a:rPr lang="en-US" sz="1300" dirty="0"/>
              <a:t> </a:t>
            </a:r>
            <a:r>
              <a:rPr lang="en-US" sz="1300" dirty="0" err="1"/>
              <a:t>proces</a:t>
            </a:r>
            <a:r>
              <a:rPr lang="en-US" sz="1300" dirty="0"/>
              <a:t> </a:t>
            </a:r>
            <a:r>
              <a:rPr lang="en-US" sz="1300" dirty="0" err="1"/>
              <a:t>i</a:t>
            </a:r>
            <a:r>
              <a:rPr lang="en-US" sz="1300" dirty="0"/>
              <a:t> </a:t>
            </a:r>
            <a:r>
              <a:rPr lang="en-US" sz="1300" dirty="0" err="1"/>
              <a:t>krijimit</a:t>
            </a:r>
            <a:r>
              <a:rPr lang="en-US" sz="1300" dirty="0"/>
              <a:t> </a:t>
            </a:r>
            <a:r>
              <a:rPr lang="en-US" sz="1300" dirty="0" err="1"/>
              <a:t>të</a:t>
            </a:r>
            <a:r>
              <a:rPr lang="en-US" sz="1300" dirty="0"/>
              <a:t> </a:t>
            </a:r>
            <a:r>
              <a:rPr lang="en-US" sz="1300" dirty="0" err="1"/>
              <a:t>qelizave</a:t>
            </a:r>
            <a:r>
              <a:rPr lang="en-US" sz="1300" dirty="0"/>
              <a:t> </a:t>
            </a:r>
            <a:r>
              <a:rPr lang="en-US" sz="1300" dirty="0" err="1"/>
              <a:t>femërore</a:t>
            </a:r>
            <a:r>
              <a:rPr lang="en-US" sz="1300" dirty="0"/>
              <a:t> </a:t>
            </a:r>
            <a:r>
              <a:rPr lang="en-US" sz="1300" dirty="0" err="1"/>
              <a:t>qelizave</a:t>
            </a:r>
            <a:r>
              <a:rPr lang="en-US" sz="1300" dirty="0"/>
              <a:t> </a:t>
            </a:r>
            <a:r>
              <a:rPr lang="en-US" sz="1300" dirty="0" err="1"/>
              <a:t>vezë</a:t>
            </a:r>
            <a:r>
              <a:rPr lang="en-US" sz="1300" dirty="0"/>
              <a:t> </a:t>
            </a:r>
            <a:r>
              <a:rPr lang="en-US" sz="1300" dirty="0" err="1"/>
              <a:t>dhe</a:t>
            </a:r>
            <a:r>
              <a:rPr lang="en-US" sz="1300" dirty="0"/>
              <a:t> </a:t>
            </a:r>
            <a:r>
              <a:rPr lang="en-US" sz="1300" dirty="0" err="1"/>
              <a:t>rrjedhë</a:t>
            </a:r>
            <a:r>
              <a:rPr lang="en-US" sz="1300" dirty="0"/>
              <a:t> </a:t>
            </a:r>
            <a:r>
              <a:rPr lang="en-US" sz="1300" dirty="0" err="1"/>
              <a:t>në</a:t>
            </a:r>
            <a:r>
              <a:rPr lang="en-US" sz="1300" dirty="0"/>
              <a:t> </a:t>
            </a:r>
            <a:r>
              <a:rPr lang="en-US" sz="1300" dirty="0" err="1"/>
              <a:t>ovariumet</a:t>
            </a:r>
            <a:r>
              <a:rPr lang="en-US" sz="1300" dirty="0"/>
              <a:t> e </a:t>
            </a:r>
            <a:r>
              <a:rPr lang="en-US" sz="1300" dirty="0" err="1"/>
              <a:t>femrës</a:t>
            </a:r>
            <a:r>
              <a:rPr lang="en-US" sz="1300" dirty="0"/>
              <a:t> </a:t>
            </a:r>
            <a:r>
              <a:rPr lang="en-US" sz="1300" dirty="0" err="1"/>
              <a:t>seksualisht</a:t>
            </a:r>
            <a:r>
              <a:rPr lang="en-US" sz="1300" dirty="0"/>
              <a:t> </a:t>
            </a:r>
            <a:r>
              <a:rPr lang="en-US" sz="1300" dirty="0" err="1"/>
              <a:t>të</a:t>
            </a:r>
            <a:r>
              <a:rPr lang="en-US" sz="1300" dirty="0"/>
              <a:t> </a:t>
            </a:r>
            <a:r>
              <a:rPr lang="en-US" sz="1300" dirty="0" err="1"/>
              <a:t>pjekur</a:t>
            </a:r>
            <a:r>
              <a:rPr lang="en-US" sz="1300" dirty="0"/>
              <a:t>. </a:t>
            </a:r>
            <a:r>
              <a:rPr lang="en-US" sz="1300" dirty="0" err="1"/>
              <a:t>Në</a:t>
            </a:r>
            <a:r>
              <a:rPr lang="en-US" sz="1300" dirty="0"/>
              <a:t> </a:t>
            </a:r>
            <a:r>
              <a:rPr lang="en-US" sz="1300" dirty="0" err="1"/>
              <a:t>ovarium</a:t>
            </a:r>
            <a:r>
              <a:rPr lang="en-US" sz="1300" dirty="0"/>
              <a:t> me </a:t>
            </a:r>
            <a:r>
              <a:rPr lang="en-US" sz="1300" dirty="0" err="1"/>
              <a:t>shumimin</a:t>
            </a:r>
            <a:r>
              <a:rPr lang="en-US" sz="1300" dirty="0"/>
              <a:t> e </a:t>
            </a:r>
            <a:r>
              <a:rPr lang="en-US" sz="1300" dirty="0" err="1"/>
              <a:t>qelizave</a:t>
            </a:r>
            <a:r>
              <a:rPr lang="en-US" sz="1300" dirty="0"/>
              <a:t> me </a:t>
            </a:r>
            <a:r>
              <a:rPr lang="en-US" sz="1300" dirty="0" err="1"/>
              <a:t>ndarje</a:t>
            </a:r>
            <a:r>
              <a:rPr lang="en-US" sz="1300" dirty="0"/>
              <a:t> </a:t>
            </a:r>
            <a:r>
              <a:rPr lang="en-US" sz="1300" dirty="0" err="1"/>
              <a:t>mitotike</a:t>
            </a:r>
            <a:r>
              <a:rPr lang="en-US" sz="1300" dirty="0"/>
              <a:t> </a:t>
            </a:r>
            <a:r>
              <a:rPr lang="en-US" sz="1300" dirty="0" err="1"/>
              <a:t>fitohen</a:t>
            </a:r>
            <a:r>
              <a:rPr lang="en-US" sz="1300" dirty="0"/>
              <a:t> </a:t>
            </a:r>
            <a:r>
              <a:rPr lang="en-US" sz="1300" dirty="0" err="1"/>
              <a:t>oogoniet</a:t>
            </a:r>
            <a:r>
              <a:rPr lang="en-US" sz="1300" dirty="0"/>
              <a:t>. </a:t>
            </a:r>
            <a:endParaRPr lang="en-US" sz="1300" dirty="0" smtClean="0"/>
          </a:p>
          <a:p>
            <a:pPr>
              <a:lnSpc>
                <a:spcPct val="117000"/>
              </a:lnSpc>
            </a:pPr>
            <a:r>
              <a:rPr lang="en-US" sz="1300" dirty="0" err="1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Proces</a:t>
            </a:r>
            <a:r>
              <a:rPr lang="en-US" sz="1300" dirty="0" smtClean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 </a:t>
            </a:r>
            <a:r>
              <a:rPr lang="en-US" sz="1300" dirty="0">
                <a:solidFill>
                  <a:srgbClr val="272525"/>
                </a:solidFill>
                <a:ea typeface="Manrope" pitchFamily="34" charset="-122"/>
                <a:cs typeface="Manrope" pitchFamily="34" charset="-120"/>
              </a:rPr>
              <a:t>i krijimit të qelizave vezë në ovariumet e femrës. Oogonia (2n) → Mejoza I → oocita dytësore (n) + trupthi i parë polar → Mejoza II → ootida (qeliza vezë funksionale) + 3 truptha polarë që shkatërrohen.</a:t>
            </a:r>
            <a:endParaRPr lang="en-US" sz="1300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182" y="0"/>
            <a:ext cx="2633980" cy="3467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2932" y="3607261"/>
            <a:ext cx="468431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</a:t>
            </a:r>
            <a:r>
              <a:rPr lang="en-US" sz="1400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ëllimi</a:t>
            </a:r>
            <a:r>
              <a:rPr lang="en-US" sz="1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qelizës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vezë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mjaftë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rritet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. P.sh.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veza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e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pulës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ka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shumë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vitelinë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të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verdhët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e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vezës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) (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telolecite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). </a:t>
            </a:r>
            <a:endParaRPr lang="en-US" sz="1400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1400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Veza</a:t>
            </a:r>
            <a:r>
              <a:rPr lang="en-US" sz="1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e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amfioksusit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dhe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e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iriqit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të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detit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ka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sasi</a:t>
            </a:r>
            <a:r>
              <a:rPr lang="en-US" sz="1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të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vogla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materiesh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rezerve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vezě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oligolecite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). </a:t>
            </a:r>
            <a:endParaRPr lang="en-US" sz="1400" dirty="0" smtClean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1400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Ndërsa</a:t>
            </a:r>
            <a:r>
              <a:rPr lang="en-US" sz="14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qelizat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vezë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të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disa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krimbave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parazitë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nuk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kanë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materie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rezervë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në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citoplazme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4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alecite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). 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152932" y="3090196"/>
            <a:ext cx="4265505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marR="12827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Qeliza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vezë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tregon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polaritet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d.m.th.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dallohet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animal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dhe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vegjetativ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Qeliza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vezë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bart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materialin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gjenetik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të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nënës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What is released from the ovary: secondary oocyte or ovum? - Quora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289" y="3454911"/>
            <a:ext cx="3141069" cy="160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357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69165" y="111350"/>
            <a:ext cx="702097" cy="227707"/>
          </a:xfrm>
          <a:prstGeom prst="roundRect">
            <a:avLst>
              <a:gd name="adj" fmla="val 42585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253558" y="151683"/>
            <a:ext cx="997818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FEKONDIMI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2863602" y="151683"/>
            <a:ext cx="5987232" cy="490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5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Fekondimi (Frytënimi) te Shtazët</a:t>
            </a:r>
            <a:endParaRPr lang="en-US" sz="2650" dirty="0"/>
          </a:p>
        </p:txBody>
      </p:sp>
      <p:sp>
        <p:nvSpPr>
          <p:cNvPr id="6" name="Shape 3"/>
          <p:cNvSpPr/>
          <p:nvPr/>
        </p:nvSpPr>
        <p:spPr>
          <a:xfrm>
            <a:off x="3040019" y="1265935"/>
            <a:ext cx="1786918" cy="3369611"/>
          </a:xfrm>
          <a:prstGeom prst="roundRect">
            <a:avLst>
              <a:gd name="adj" fmla="val 8141"/>
            </a:avLst>
          </a:prstGeom>
          <a:solidFill>
            <a:srgbClr val="D4F7F5"/>
          </a:solidFill>
          <a:ln/>
        </p:spPr>
      </p:sp>
      <p:sp>
        <p:nvSpPr>
          <p:cNvPr id="7" name="Shape 4"/>
          <p:cNvSpPr/>
          <p:nvPr/>
        </p:nvSpPr>
        <p:spPr>
          <a:xfrm>
            <a:off x="3083987" y="1295868"/>
            <a:ext cx="403994" cy="403994"/>
          </a:xfrm>
          <a:prstGeom prst="roundRect">
            <a:avLst>
              <a:gd name="adj" fmla="val 14144835"/>
            </a:avLst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168345" y="1379411"/>
            <a:ext cx="181794" cy="1817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30799" y="1352154"/>
            <a:ext cx="1219721" cy="37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Procesi i Fekondimit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198286" y="1881994"/>
            <a:ext cx="1470384" cy="2322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Bashkimi i bërthamës së spermatozoidit (pronukleusi mashkullor) me bërthamën e qelizës vezë (pronukleusi femëror) krijon zigotën me numër diploid (2n) të kromozomeve. Akrozomi ka enzime që zbërthejnë membranën e qelizës vezë.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123980" y="1265934"/>
            <a:ext cx="1660727" cy="3369611"/>
          </a:xfrm>
          <a:prstGeom prst="roundRect">
            <a:avLst>
              <a:gd name="adj" fmla="val 8141"/>
            </a:avLst>
          </a:prstGeom>
          <a:solidFill>
            <a:srgbClr val="D4F7F5"/>
          </a:solidFill>
          <a:ln/>
        </p:spPr>
      </p:sp>
      <p:sp>
        <p:nvSpPr>
          <p:cNvPr id="12" name="Shape 8"/>
          <p:cNvSpPr/>
          <p:nvPr/>
        </p:nvSpPr>
        <p:spPr>
          <a:xfrm>
            <a:off x="5181656" y="1318444"/>
            <a:ext cx="403994" cy="403994"/>
          </a:xfrm>
          <a:prstGeom prst="roundRect">
            <a:avLst>
              <a:gd name="adj" fmla="val 14144835"/>
            </a:avLst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90602" y="1429544"/>
            <a:ext cx="181794" cy="1817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43325" y="1379411"/>
            <a:ext cx="1219721" cy="55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Fekondimi i Jashtëm &amp; i Brendshëm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247357" y="2045938"/>
            <a:ext cx="1432649" cy="2330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Fekondimi i jashtëm bëhet në mjedisin e jashtëm (zakonisht në ujë). Fekondimi i brendshëm — spermatozoidet arrijnë në kanalet seksuale të femrës. Te gjitarët fekondimi bëhet në pjesën e përparme të vepërçuesit.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058166" y="1243335"/>
            <a:ext cx="1792667" cy="3392211"/>
          </a:xfrm>
          <a:prstGeom prst="roundRect">
            <a:avLst>
              <a:gd name="adj" fmla="val 8140"/>
            </a:avLst>
          </a:prstGeom>
          <a:solidFill>
            <a:srgbClr val="D4F7F5"/>
          </a:solidFill>
          <a:ln/>
        </p:spPr>
      </p:sp>
      <p:sp>
        <p:nvSpPr>
          <p:cNvPr id="17" name="Shape 12"/>
          <p:cNvSpPr/>
          <p:nvPr/>
        </p:nvSpPr>
        <p:spPr>
          <a:xfrm>
            <a:off x="7136506" y="1318444"/>
            <a:ext cx="403994" cy="403994"/>
          </a:xfrm>
          <a:prstGeom prst="roundRect">
            <a:avLst>
              <a:gd name="adj" fmla="val 14144835"/>
            </a:avLst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222777" y="1406968"/>
            <a:ext cx="181794" cy="1817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40500" y="1444725"/>
            <a:ext cx="121979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Pas Fekondimit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203772" y="2008902"/>
            <a:ext cx="1479538" cy="2367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 fekondimit formohet membrana fertilizuese e cila pengon polisperminë — hyrjen e spermatozoideve të tjerë. Zigota fillon ndarjet e njëpasnjëshme mitotike për zhvillimin e organizmit të ri.</a:t>
            </a:r>
            <a:endParaRPr lang="en-US" sz="1100" dirty="0"/>
          </a:p>
        </p:txBody>
      </p:sp>
      <p:pic>
        <p:nvPicPr>
          <p:cNvPr id="21" name="Picture 20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38" y="952488"/>
            <a:ext cx="2351724" cy="32559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7722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2624" y="949531"/>
            <a:ext cx="1091059" cy="227707"/>
          </a:xfrm>
          <a:prstGeom prst="roundRect">
            <a:avLst>
              <a:gd name="adj" fmla="val 42585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160769" y="978081"/>
            <a:ext cx="1386780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PARTENOGJENEZA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343917" y="949531"/>
            <a:ext cx="3824139" cy="3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5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Partenogjeneza</a:t>
            </a:r>
            <a:endParaRPr lang="en-US" sz="2650" dirty="0"/>
          </a:p>
        </p:txBody>
      </p:sp>
      <p:sp>
        <p:nvSpPr>
          <p:cNvPr id="6" name="Shape 3"/>
          <p:cNvSpPr/>
          <p:nvPr/>
        </p:nvSpPr>
        <p:spPr>
          <a:xfrm>
            <a:off x="85204" y="1397127"/>
            <a:ext cx="2631951" cy="134615"/>
          </a:xfrm>
          <a:prstGeom prst="roundRect">
            <a:avLst>
              <a:gd name="adj" fmla="val 90043"/>
            </a:avLst>
          </a:prstGeom>
          <a:solidFill>
            <a:srgbClr val="D4F7F5"/>
          </a:solidFill>
          <a:ln/>
        </p:spPr>
      </p:sp>
      <p:sp>
        <p:nvSpPr>
          <p:cNvPr id="7" name="Text 4"/>
          <p:cNvSpPr/>
          <p:nvPr/>
        </p:nvSpPr>
        <p:spPr>
          <a:xfrm>
            <a:off x="220039" y="1644604"/>
            <a:ext cx="2197075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Çfarë është </a:t>
            </a:r>
            <a:r>
              <a:rPr lang="en-US" sz="1300" b="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Partenogjeneza</a:t>
            </a:r>
            <a:r>
              <a:rPr lang="en-US" sz="130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0039" y="1941386"/>
            <a:ext cx="2362721" cy="1287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Zhvillimi i mëtejshëm i qelizës vezë pa fekondim — pa depërtimin e spermatozoidit. Vezët e shumë shtazëve mund të aktivizohen për zhvillim në mënyrë natyrore ose artificiale pa ndihmën e spermatozoideve.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92733" y="1402455"/>
            <a:ext cx="2631951" cy="134615"/>
          </a:xfrm>
          <a:prstGeom prst="roundRect">
            <a:avLst>
              <a:gd name="adj" fmla="val 90043"/>
            </a:avLst>
          </a:prstGeom>
          <a:solidFill>
            <a:srgbClr val="D4F7F5"/>
          </a:solidFill>
          <a:ln/>
        </p:spPr>
      </p:sp>
      <p:sp>
        <p:nvSpPr>
          <p:cNvPr id="10" name="Text 7"/>
          <p:cNvSpPr/>
          <p:nvPr/>
        </p:nvSpPr>
        <p:spPr>
          <a:xfrm>
            <a:off x="3255986" y="1652553"/>
            <a:ext cx="1683469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Shembull: Bletët</a:t>
            </a:r>
            <a:endParaRPr lang="en-US" sz="1300" b="1" dirty="0"/>
          </a:p>
        </p:txBody>
      </p:sp>
      <p:sp>
        <p:nvSpPr>
          <p:cNvPr id="11" name="Text 8"/>
          <p:cNvSpPr/>
          <p:nvPr/>
        </p:nvSpPr>
        <p:spPr>
          <a:xfrm>
            <a:off x="2992733" y="1887232"/>
            <a:ext cx="2362721" cy="1400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Mashkujt e bletëve (trutëit) zhvillohen prej vezëve të pafekonduara (partenogjeneza natyrore). Mbretëresha (2n=32 kromozome) prodhon vezë haploide (n=16) të cilat zhvillohen pa u fekonduar në trutë.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80759" y="1402455"/>
            <a:ext cx="2631951" cy="134615"/>
          </a:xfrm>
          <a:prstGeom prst="roundRect">
            <a:avLst>
              <a:gd name="adj" fmla="val 90043"/>
            </a:avLst>
          </a:prstGeom>
          <a:solidFill>
            <a:srgbClr val="D4F7F5"/>
          </a:solidFill>
          <a:ln/>
        </p:spPr>
      </p:sp>
      <p:sp>
        <p:nvSpPr>
          <p:cNvPr id="13" name="Text 10"/>
          <p:cNvSpPr/>
          <p:nvPr/>
        </p:nvSpPr>
        <p:spPr>
          <a:xfrm>
            <a:off x="6292154" y="1644604"/>
            <a:ext cx="1942802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Partenogjeneza Artificiale</a:t>
            </a:r>
            <a:endParaRPr lang="en-US" sz="1300" b="1" dirty="0"/>
          </a:p>
        </p:txBody>
      </p:sp>
      <p:sp>
        <p:nvSpPr>
          <p:cNvPr id="14" name="Text 11"/>
          <p:cNvSpPr/>
          <p:nvPr/>
        </p:nvSpPr>
        <p:spPr>
          <a:xfrm>
            <a:off x="6292154" y="1887232"/>
            <a:ext cx="2362721" cy="1633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Mund të nixtet edhe te llojet e tjera duke ndryshuar temperaturën, vlerën pH, përqendrimin e materialeve minerale, ose me veprimin e zeglave kimike dhe mekanike — edhe te llojet që normalisht zhvillohen vetëm me frytnim.</a:t>
            </a:r>
            <a:endParaRPr lang="en-US" sz="1100" dirty="0"/>
          </a:p>
        </p:txBody>
      </p:sp>
      <p:pic>
        <p:nvPicPr>
          <p:cNvPr id="15" name="Picture 14" descr="PARTENOGENESIS (PA-116, TMG365H, H.305)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4069" y="3287438"/>
            <a:ext cx="2675890" cy="17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910</Words>
  <Application>Microsoft Office PowerPoint</Application>
  <PresentationFormat>On-screen Show (16:9)</PresentationFormat>
  <Paragraphs>69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Times New Roman</vt:lpstr>
      <vt:lpstr>Manrope</vt:lpstr>
      <vt:lpstr>DM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Blacksn0w</dc:creator>
  <cp:lastModifiedBy>Ardian Hyseni</cp:lastModifiedBy>
  <cp:revision>8</cp:revision>
  <dcterms:created xsi:type="dcterms:W3CDTF">2026-05-23T05:42:43Z</dcterms:created>
  <dcterms:modified xsi:type="dcterms:W3CDTF">2026-05-23T06:46:13Z</dcterms:modified>
</cp:coreProperties>
</file>